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  <p:sldId id="268" r:id="rId14"/>
    <p:sldId id="271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0030DF-1CFA-734A-56B6-90EB5E934F71}" v="1785" dt="2026-07-31T19:34:05.827"/>
    <p1510:client id="{55560CAD-7B8A-AD9D-0C6B-A60D6D92E5D7}" v="1405" dt="2026-07-31T19:44:18.929"/>
    <p1510:client id="{5DAA14E2-2671-A814-B6D3-0207007E3445}" v="2" dt="2026-08-01T03:28:01.234"/>
    <p1510:client id="{C75EC36D-B2FF-79E0-4382-3715CF841DBE}" v="624" dt="2026-07-31T19:43:17.228"/>
    <p1510:client id="{F8B99129-CF93-BF21-A260-F0CE8BE85F4E}" v="80" dt="2026-08-01T03:45:47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A3D62"/>
                </a:solidFill>
                <a:latin typeface="Arial"/>
              </a:defRPr>
            </a:pPr>
            <a:r>
              <a:rPr lang="en-US" sz="1250" b="0" i="0" u="none" strike="noStrike">
                <a:solidFill>
                  <a:srgbClr val="0A3D62"/>
                </a:solidFill>
                <a:latin typeface="Arial"/>
              </a:rPr>
              <a:t>LOF Scores Overlaid on Load Series (bubble = anomaly score)</a:t>
            </a:r>
          </a:p>
        </c:rich>
      </c:tx>
      <c:overlay val="0"/>
    </c:title>
    <c:autoTitleDeleted val="0"/>
    <c:plotArea>
      <c:layout/>
      <c:bubbleChart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1"/>
        <c:axId val="2094734554"/>
        <c:axId val="2094734552"/>
      </c:bubble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D6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3D62"/>
                </a:solidFill>
                <a:latin typeface="Arial"/>
              </a:rPr>
              <a:t>Training / Validation Loss (MSE)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25400" cap="flat">
              <a:solidFill>
                <a:srgbClr val="0A3D6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  <c:pt idx="16">
                  <c:v>34</c:v>
                </c:pt>
                <c:pt idx="17">
                  <c:v>36</c:v>
                </c:pt>
                <c:pt idx="18">
                  <c:v>38</c:v>
                </c:pt>
                <c:pt idx="19">
                  <c:v>40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0.88200000000000001</c:v>
                </c:pt>
                <c:pt idx="1">
                  <c:v>0.75800000000000001</c:v>
                </c:pt>
                <c:pt idx="2">
                  <c:v>0.64500000000000002</c:v>
                </c:pt>
                <c:pt idx="3">
                  <c:v>0.54700000000000004</c:v>
                </c:pt>
                <c:pt idx="4">
                  <c:v>0.46700000000000003</c:v>
                </c:pt>
                <c:pt idx="5">
                  <c:v>0.40699999999999997</c:v>
                </c:pt>
                <c:pt idx="6">
                  <c:v>0.34799999999999998</c:v>
                </c:pt>
                <c:pt idx="7">
                  <c:v>0.29699999999999999</c:v>
                </c:pt>
                <c:pt idx="8">
                  <c:v>0.26300000000000001</c:v>
                </c:pt>
                <c:pt idx="9">
                  <c:v>0.221</c:v>
                </c:pt>
                <c:pt idx="10">
                  <c:v>0.191</c:v>
                </c:pt>
                <c:pt idx="11">
                  <c:v>0.17399999999999999</c:v>
                </c:pt>
                <c:pt idx="12">
                  <c:v>0.14899999999999999</c:v>
                </c:pt>
                <c:pt idx="13">
                  <c:v>0.13700000000000001</c:v>
                </c:pt>
                <c:pt idx="14">
                  <c:v>0.121</c:v>
                </c:pt>
                <c:pt idx="15">
                  <c:v>0.1</c:v>
                </c:pt>
                <c:pt idx="16">
                  <c:v>9.7000000000000003E-2</c:v>
                </c:pt>
                <c:pt idx="17">
                  <c:v>8.3000000000000004E-2</c:v>
                </c:pt>
                <c:pt idx="18">
                  <c:v>7.5999999999999998E-2</c:v>
                </c:pt>
                <c:pt idx="19">
                  <c:v>6.9000000000000006E-2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61-41BE-9A88-C794C4C7EF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254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  <c:pt idx="10">
                  <c:v>22</c:v>
                </c:pt>
                <c:pt idx="11">
                  <c:v>24</c:v>
                </c:pt>
                <c:pt idx="12">
                  <c:v>26</c:v>
                </c:pt>
                <c:pt idx="13">
                  <c:v>28</c:v>
                </c:pt>
                <c:pt idx="14">
                  <c:v>30</c:v>
                </c:pt>
                <c:pt idx="15">
                  <c:v>32</c:v>
                </c:pt>
                <c:pt idx="16">
                  <c:v>34</c:v>
                </c:pt>
                <c:pt idx="17">
                  <c:v>36</c:v>
                </c:pt>
                <c:pt idx="18">
                  <c:v>38</c:v>
                </c:pt>
                <c:pt idx="19">
                  <c:v>40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0.94699999999999995</c:v>
                </c:pt>
                <c:pt idx="1">
                  <c:v>0.79700000000000004</c:v>
                </c:pt>
                <c:pt idx="2">
                  <c:v>0.67900000000000005</c:v>
                </c:pt>
                <c:pt idx="3">
                  <c:v>0.56999999999999995</c:v>
                </c:pt>
                <c:pt idx="4">
                  <c:v>0.48499999999999999</c:v>
                </c:pt>
                <c:pt idx="5">
                  <c:v>0.41299999999999998</c:v>
                </c:pt>
                <c:pt idx="6">
                  <c:v>0.35299999999999998</c:v>
                </c:pt>
                <c:pt idx="7">
                  <c:v>0.30599999999999999</c:v>
                </c:pt>
                <c:pt idx="8">
                  <c:v>0.25800000000000001</c:v>
                </c:pt>
                <c:pt idx="9">
                  <c:v>0.224</c:v>
                </c:pt>
                <c:pt idx="10">
                  <c:v>0.20100000000000001</c:v>
                </c:pt>
                <c:pt idx="11">
                  <c:v>0.17299999999999999</c:v>
                </c:pt>
                <c:pt idx="12">
                  <c:v>0.157</c:v>
                </c:pt>
                <c:pt idx="13">
                  <c:v>0.14000000000000001</c:v>
                </c:pt>
                <c:pt idx="14">
                  <c:v>0.12</c:v>
                </c:pt>
                <c:pt idx="15">
                  <c:v>0.107</c:v>
                </c:pt>
                <c:pt idx="16">
                  <c:v>9.8000000000000004E-2</c:v>
                </c:pt>
                <c:pt idx="17">
                  <c:v>8.7999999999999995E-2</c:v>
                </c:pt>
                <c:pt idx="18">
                  <c:v>0.09</c:v>
                </c:pt>
                <c:pt idx="19">
                  <c:v>7.4999999999999997E-2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61-41BE-9A88-C794C4C7EF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D6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3D62"/>
                </a:solidFill>
                <a:latin typeface="Arial"/>
              </a:rPr>
              <a:t>Actual vs Predicted Load (10-Day Window)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25400" cap="flat">
              <a:solidFill>
                <a:srgbClr val="63B4D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D1</c:v>
                </c:pt>
                <c:pt idx="6">
                  <c:v>D2</c:v>
                </c:pt>
                <c:pt idx="12">
                  <c:v>D3</c:v>
                </c:pt>
                <c:pt idx="18">
                  <c:v>D4</c:v>
                </c:pt>
                <c:pt idx="24">
                  <c:v>D5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32000</c:v>
                </c:pt>
                <c:pt idx="1">
                  <c:v>35007</c:v>
                </c:pt>
                <c:pt idx="2">
                  <c:v>37209</c:v>
                </c:pt>
                <c:pt idx="3">
                  <c:v>38160</c:v>
                </c:pt>
                <c:pt idx="4">
                  <c:v>37929</c:v>
                </c:pt>
                <c:pt idx="5">
                  <c:v>37001</c:v>
                </c:pt>
                <c:pt idx="6">
                  <c:v>35963</c:v>
                </c:pt>
                <c:pt idx="7">
                  <c:v>35165</c:v>
                </c:pt>
                <c:pt idx="8">
                  <c:v>34550</c:v>
                </c:pt>
                <c:pt idx="9">
                  <c:v>33742</c:v>
                </c:pt>
                <c:pt idx="10">
                  <c:v>32337</c:v>
                </c:pt>
                <c:pt idx="11">
                  <c:v>30224</c:v>
                </c:pt>
                <c:pt idx="12">
                  <c:v>27748</c:v>
                </c:pt>
                <c:pt idx="13">
                  <c:v>25610</c:v>
                </c:pt>
                <c:pt idx="14">
                  <c:v>24545</c:v>
                </c:pt>
                <c:pt idx="15">
                  <c:v>24962</c:v>
                </c:pt>
                <c:pt idx="16">
                  <c:v>26736</c:v>
                </c:pt>
                <c:pt idx="17">
                  <c:v>29264</c:v>
                </c:pt>
                <c:pt idx="18">
                  <c:v>31760</c:v>
                </c:pt>
                <c:pt idx="19">
                  <c:v>33632</c:v>
                </c:pt>
                <c:pt idx="20">
                  <c:v>34722</c:v>
                </c:pt>
                <c:pt idx="21">
                  <c:v>35295</c:v>
                </c:pt>
                <c:pt idx="22">
                  <c:v>35799</c:v>
                </c:pt>
                <c:pt idx="23">
                  <c:v>36521</c:v>
                </c:pt>
                <c:pt idx="24">
                  <c:v>37369</c:v>
                </c:pt>
                <c:pt idx="25">
                  <c:v>37882</c:v>
                </c:pt>
                <c:pt idx="26">
                  <c:v>37495</c:v>
                </c:pt>
                <c:pt idx="27">
                  <c:v>35882</c:v>
                </c:pt>
                <c:pt idx="28">
                  <c:v>33204</c:v>
                </c:pt>
                <c:pt idx="29">
                  <c:v>30096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68-444C-9708-562022697F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Model</c:v>
                </c:pt>
              </c:strCache>
            </c:strRef>
          </c:tx>
          <c:spPr>
            <a:ln w="25400" cap="flat">
              <a:solidFill>
                <a:srgbClr val="0A3D62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Sheet1!$A$2:$A$31</c:f>
              <c:strCache>
                <c:ptCount val="30"/>
                <c:pt idx="0">
                  <c:v>D1</c:v>
                </c:pt>
                <c:pt idx="6">
                  <c:v>D2</c:v>
                </c:pt>
                <c:pt idx="12">
                  <c:v>D3</c:v>
                </c:pt>
                <c:pt idx="18">
                  <c:v>D4</c:v>
                </c:pt>
                <c:pt idx="24">
                  <c:v>D5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31860</c:v>
                </c:pt>
                <c:pt idx="1">
                  <c:v>35047</c:v>
                </c:pt>
                <c:pt idx="2">
                  <c:v>37555</c:v>
                </c:pt>
                <c:pt idx="3">
                  <c:v>37886</c:v>
                </c:pt>
                <c:pt idx="4">
                  <c:v>37886</c:v>
                </c:pt>
                <c:pt idx="5">
                  <c:v>36663</c:v>
                </c:pt>
                <c:pt idx="6">
                  <c:v>36337</c:v>
                </c:pt>
                <c:pt idx="7">
                  <c:v>35390</c:v>
                </c:pt>
                <c:pt idx="8">
                  <c:v>34385</c:v>
                </c:pt>
                <c:pt idx="9">
                  <c:v>33904</c:v>
                </c:pt>
                <c:pt idx="10">
                  <c:v>32597</c:v>
                </c:pt>
                <c:pt idx="11">
                  <c:v>30012</c:v>
                </c:pt>
                <c:pt idx="12">
                  <c:v>28137</c:v>
                </c:pt>
                <c:pt idx="13">
                  <c:v>25596</c:v>
                </c:pt>
                <c:pt idx="14">
                  <c:v>24940</c:v>
                </c:pt>
                <c:pt idx="15">
                  <c:v>24561</c:v>
                </c:pt>
                <c:pt idx="16">
                  <c:v>26377</c:v>
                </c:pt>
                <c:pt idx="17">
                  <c:v>29200</c:v>
                </c:pt>
                <c:pt idx="18">
                  <c:v>31668</c:v>
                </c:pt>
                <c:pt idx="19">
                  <c:v>33245</c:v>
                </c:pt>
                <c:pt idx="20">
                  <c:v>34908</c:v>
                </c:pt>
                <c:pt idx="21">
                  <c:v>35503</c:v>
                </c:pt>
                <c:pt idx="22">
                  <c:v>36179</c:v>
                </c:pt>
                <c:pt idx="23">
                  <c:v>36461</c:v>
                </c:pt>
                <c:pt idx="24">
                  <c:v>37309</c:v>
                </c:pt>
                <c:pt idx="25">
                  <c:v>37595</c:v>
                </c:pt>
                <c:pt idx="26">
                  <c:v>37416</c:v>
                </c:pt>
                <c:pt idx="27">
                  <c:v>36235</c:v>
                </c:pt>
                <c:pt idx="28">
                  <c:v>32801</c:v>
                </c:pt>
                <c:pt idx="29">
                  <c:v>29991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68-444C-9708-562022697F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1EDB7-0891-4E5E-8D76-2E5ECE996D38}" type="datetimeFigureOut"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C9703-D440-4E18-A0A8-C75073E8C6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">
            <a:extLst>
              <a:ext uri="{FF2B5EF4-FFF2-40B4-BE49-F238E27FC236}">
                <a16:creationId xmlns:a16="http://schemas.microsoft.com/office/drawing/2014/main" id="{EFDE99FB-41E6-E204-0052-0180EAA1B4EE}"/>
              </a:ext>
            </a:extLst>
          </p:cNvPr>
          <p:cNvSpPr/>
          <p:nvPr/>
        </p:nvSpPr>
        <p:spPr>
          <a:xfrm>
            <a:off x="9291388" y="-1724416"/>
            <a:ext cx="5009576" cy="5145274"/>
          </a:xfrm>
          <a:prstGeom prst="ellipse">
            <a:avLst/>
          </a:prstGeom>
          <a:solidFill>
            <a:srgbClr val="63B4D1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2595" y="3640899"/>
            <a:ext cx="3840480" cy="3840480"/>
          </a:xfrm>
          <a:prstGeom prst="ellipse">
            <a:avLst/>
          </a:prstGeom>
          <a:solidFill>
            <a:srgbClr val="63B4D1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8013" y="319413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kern="0" spc="3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MAJOR PROJECT  •  2026–2027</a:t>
            </a:r>
            <a:endParaRPr lang="en-US" sz="14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8013" y="682669"/>
            <a:ext cx="10272178" cy="9336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5000"/>
              </a:lnSpc>
            </a:pPr>
            <a:r>
              <a:rPr lang="en-US" sz="3200" b="1">
                <a:solidFill>
                  <a:srgbClr val="FFFFFF"/>
                </a:solidFill>
                <a:latin typeface="Times New Roman"/>
                <a:ea typeface="Cambria"/>
                <a:cs typeface="Times New Roman"/>
              </a:rPr>
              <a:t>Advanced Electric Load Demand Forecasting Using AI</a:t>
            </a:r>
            <a:endParaRPr lang="en-US" sz="3200">
              <a:latin typeface="Times New Roman"/>
              <a:ea typeface="Cambria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56772" y="4817011"/>
            <a:ext cx="7275116" cy="12509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7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Soumit Mal  (Data Science) - 2301020365 </a:t>
            </a:r>
            <a:endParaRPr lang="en-US" sz="17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7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Subhasish Kumar Sahu  (Data Science) - 2301020857</a:t>
            </a:r>
            <a:endParaRPr lang="en-US" sz="17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7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Roshan Singh  (Data Science) - 2301020380</a:t>
            </a:r>
            <a:endParaRPr lang="en-US" sz="17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r>
              <a:rPr lang="en-US" sz="17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Raja Ram Kumar  (Computer Science &amp; Core) - 2301020406</a:t>
            </a:r>
            <a:endParaRPr lang="en-US" sz="17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42313" y="4189960"/>
            <a:ext cx="7097664" cy="49102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Department of Computer Science and Engineering  | Major Project — 7th Semester</a:t>
            </a:r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52387" y="6188275"/>
            <a:ext cx="8371144" cy="344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solidFill>
                  <a:srgbClr val="FFFFFF"/>
                </a:solidFill>
                <a:latin typeface="Times New Roman"/>
                <a:ea typeface="Calibri"/>
                <a:cs typeface="Times New Roman"/>
              </a:rPr>
              <a:t>GITHUB REPO: github.com/Soumit2k05/MP-1-7th-Sem-Soumit-Subhasish-Roshan-Rajaram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C954C2-6A39-33A3-AAAD-50AD9117B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049" y="1718220"/>
            <a:ext cx="1485902" cy="15009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2C3316A-5BDF-F02E-2827-A8DD71FDEE45}"/>
              </a:ext>
            </a:extLst>
          </p:cNvPr>
          <p:cNvSpPr txBox="1"/>
          <p:nvPr/>
        </p:nvSpPr>
        <p:spPr>
          <a:xfrm>
            <a:off x="3037561" y="3502068"/>
            <a:ext cx="61168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180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rPr>
              <a:t>Under The Supervision Of</a:t>
            </a:r>
            <a:endParaRPr lang="en-US" sz="1800" kern="1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algn="ctr" rtl="0"/>
            <a:r>
              <a:rPr lang="en-US" sz="180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rPr>
              <a:t>Prof. Mamtarani Das</a:t>
            </a:r>
            <a:endParaRPr lang="en-US" sz="1800" kern="1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6D78E4F5-CC88-E7B5-DBB2-FFABD904027C}"/>
              </a:ext>
            </a:extLst>
          </p:cNvPr>
          <p:cNvSpPr/>
          <p:nvPr/>
        </p:nvSpPr>
        <p:spPr>
          <a:xfrm>
            <a:off x="-2503954" y="1260954"/>
            <a:ext cx="3840480" cy="3840480"/>
          </a:xfrm>
          <a:prstGeom prst="ellipse">
            <a:avLst/>
          </a:prstGeom>
          <a:solidFill>
            <a:srgbClr val="63B4D1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b="1" kern="0" spc="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694777" y="452106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Outlines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D9AD9-3B2B-724F-9D8F-B88D504BC617}"/>
              </a:ext>
            </a:extLst>
          </p:cNvPr>
          <p:cNvSpPr txBox="1"/>
          <p:nvPr/>
        </p:nvSpPr>
        <p:spPr>
          <a:xfrm>
            <a:off x="699370" y="1310014"/>
            <a:ext cx="10928958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Problem Statement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Improve electricity load forecasting by reducing errors caused by noise, outliers, and changing demand patterns.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Literature Review</a:t>
            </a:r>
            <a:b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Review recent machine learning and deep learning approaches for short-term electricity load forecasting and identify their strengths and limitations.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Research Gap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Existing methods have limited preprocessing, manual tuning, and are tested on limited datasets.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Proposed Methodology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Build a hybrid model using FFT denoising, LOF outlier removal, RP/GAF encoding, and a Hyperband-tuned CNN-LSTM Autoencoder.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Results &amp; Evaluation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Compare the proposed model with ARIMA, SVM, ANN, and 1D-CNN using five performance metrics across three datasets. </a:t>
            </a:r>
          </a:p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Conclusion &amp; Future Work</a:t>
            </a:r>
            <a:b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</a:b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Achieve more accurate forecasting and explore Transformers, probabilistic forecasting, and real-time deployment in future work.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DBCE64B-FB67-E838-81CE-2694D1A79951}"/>
              </a:ext>
            </a:extLst>
          </p:cNvPr>
          <p:cNvSpPr/>
          <p:nvPr/>
        </p:nvSpPr>
        <p:spPr>
          <a:xfrm>
            <a:off x="558937" y="422766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Problem Statement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2B7B07C-6E45-B968-32C2-BE0B809274D9}"/>
              </a:ext>
            </a:extLst>
          </p:cNvPr>
          <p:cNvSpPr/>
          <p:nvPr/>
        </p:nvSpPr>
        <p:spPr>
          <a:xfrm>
            <a:off x="-20595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28D3DB-0BDA-981B-FD1F-640F4DD243A1}"/>
              </a:ext>
            </a:extLst>
          </p:cNvPr>
          <p:cNvSpPr txBox="1"/>
          <p:nvPr/>
        </p:nvSpPr>
        <p:spPr>
          <a:xfrm>
            <a:off x="710513" y="1462216"/>
            <a:ext cx="1041056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1) Increasing Electricity Demand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Electricity consumption changes due to daily usage, weather conditions, and seasonal variations.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These fluctuations make accurate load forecasting challenging. 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2) Limitations of Traditional Methods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Conventional methods struggle with noise, outliers, and changing demand patterns.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This reduces prediction accuracy and forecast reliability. 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3) Impact of Inaccurate Forecasting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Poor predictions increase operational costs and energy wastage. 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They also reduce the efficiency of power system planning. </a:t>
            </a: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b="1">
                <a:solidFill>
                  <a:srgbClr val="000000"/>
                </a:solidFill>
                <a:latin typeface="Times New Roman"/>
                <a:cs typeface="Times New Roman"/>
              </a:rPr>
              <a:t>4) Need for an Intelligent Solution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An AI-based forecasting model is needed to handle noisy data effectively. 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It improves prediction accuracy and supports better decision-making in power systems.</a:t>
            </a:r>
          </a:p>
          <a:p>
            <a:endParaRPr lang="en-US" b="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6753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07944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Literature Review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E677B-128B-1B58-6FE2-8891667DE9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86687"/>
              </p:ext>
            </p:extLst>
          </p:nvPr>
        </p:nvGraphicFramePr>
        <p:xfrm>
          <a:off x="432486" y="1081216"/>
          <a:ext cx="11313982" cy="5208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243">
                  <a:extLst>
                    <a:ext uri="{9D8B030D-6E8A-4147-A177-3AD203B41FA5}">
                      <a16:colId xmlns:a16="http://schemas.microsoft.com/office/drawing/2014/main" val="3800624943"/>
                    </a:ext>
                  </a:extLst>
                </a:gridCol>
                <a:gridCol w="1192264">
                  <a:extLst>
                    <a:ext uri="{9D8B030D-6E8A-4147-A177-3AD203B41FA5}">
                      <a16:colId xmlns:a16="http://schemas.microsoft.com/office/drawing/2014/main" val="2182540480"/>
                    </a:ext>
                  </a:extLst>
                </a:gridCol>
                <a:gridCol w="1750539">
                  <a:extLst>
                    <a:ext uri="{9D8B030D-6E8A-4147-A177-3AD203B41FA5}">
                      <a16:colId xmlns:a16="http://schemas.microsoft.com/office/drawing/2014/main" val="3047575796"/>
                    </a:ext>
                  </a:extLst>
                </a:gridCol>
                <a:gridCol w="2677296">
                  <a:extLst>
                    <a:ext uri="{9D8B030D-6E8A-4147-A177-3AD203B41FA5}">
                      <a16:colId xmlns:a16="http://schemas.microsoft.com/office/drawing/2014/main" val="3989873667"/>
                    </a:ext>
                  </a:extLst>
                </a:gridCol>
                <a:gridCol w="2810640">
                  <a:extLst>
                    <a:ext uri="{9D8B030D-6E8A-4147-A177-3AD203B41FA5}">
                      <a16:colId xmlns:a16="http://schemas.microsoft.com/office/drawing/2014/main" val="2507205158"/>
                    </a:ext>
                  </a:extLst>
                </a:gridCol>
              </a:tblGrid>
              <a:tr h="65645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AUTHOR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  PUBLICATION / YEAR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MERIT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ea typeface="Calibri"/>
                          <a:cs typeface="Times New Roman"/>
                        </a:rPr>
                        <a:t>DEMERIT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3327487"/>
                  </a:ext>
                </a:extLst>
              </a:tr>
              <a:tr h="156925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Bayesian Optimization of Gradient Boosted Trees for Short-Term Load Forecasting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P. Duan,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Energies, 2023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latin typeface="Times New Roman"/>
                          <a:cs typeface="Times New Roman"/>
                        </a:rPr>
                        <a:t>• Demonstrates substantial error reduction using Tree-structured </a:t>
                      </a:r>
                      <a:r>
                        <a:rPr lang="en-US" sz="1600" b="0" i="0" u="none" strike="noStrike" noProof="0" dirty="0" err="1">
                          <a:latin typeface="Times New Roman"/>
                          <a:cs typeface="Times New Roman"/>
                        </a:rPr>
                        <a:t>Parzen</a:t>
                      </a:r>
                      <a:r>
                        <a:rPr lang="en-US" sz="1600" b="0" i="0" u="none" strike="noStrike" noProof="0" dirty="0">
                          <a:latin typeface="Times New Roman"/>
                          <a:cs typeface="Times New Roman"/>
                        </a:rPr>
                        <a:t> Estimator (TPE) over grid search.</a:t>
                      </a:r>
                      <a:endParaRPr lang="en-US" dirty="0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Lacks game-theoretic explainability (SHAP) to interpret specific feature contributions.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40541"/>
                  </a:ext>
                </a:extLst>
              </a:tr>
              <a:tr h="1076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Deep Learning for Sequence-Aware Load Forecasting Using LSTM Networks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S. Hochreiter,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IEEE Access, 2021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Models long-range temporal dependencies natively without requiring manual lag features.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High computational overhead and lacks intuitive feature-level interpretability.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632188"/>
                  </a:ext>
                </a:extLst>
              </a:tr>
              <a:tr h="190645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Explainable AI for Power System Load Demand Prediction Using SHAP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A. Lundberg, et al.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Plied Energy, 2022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Provides mathematically grounded feature contribution scores for energy forecasts.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latin typeface="Times New Roman"/>
                          <a:cs typeface="Times New Roman"/>
                        </a:rPr>
                        <a:t>• Limited to single-model evaluation without benchmarking against sequence deep learning models. </a:t>
                      </a:r>
                      <a:endParaRPr lang="en-US">
                        <a:latin typeface="Times New Roman"/>
                        <a:cs typeface="Times New Roman"/>
                      </a:endParaRPr>
                    </a:p>
                    <a:p>
                      <a:pPr lvl="0" algn="l">
                        <a:buNone/>
                      </a:pP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89070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937" y="42276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 pitchFamily="34" charset="-122"/>
                <a:cs typeface="Times New Roman"/>
              </a:rPr>
              <a:t>Research Gap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-20595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2" name="Text 30"/>
          <p:cNvSpPr/>
          <p:nvPr/>
        </p:nvSpPr>
        <p:spPr>
          <a:xfrm>
            <a:off x="3454125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E84D4F-4E70-E464-0BFD-0966872DBE47}"/>
              </a:ext>
            </a:extLst>
          </p:cNvPr>
          <p:cNvSpPr txBox="1"/>
          <p:nvPr/>
        </p:nvSpPr>
        <p:spPr>
          <a:xfrm>
            <a:off x="339811" y="1318054"/>
            <a:ext cx="7399568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Time-Series Data Leakage: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Widespread use of random data splits introduces future leakage, resulting in artificially high scores that fail in real-world deployment.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Lack of Model Interpretability: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High-accuracy models are treated as "black boxes" without feature-level explainability (e.g., SHAP) to validate predictions.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Inefficient Parameter Tuning: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Heavy reliance on manual parameter selection or exhaustive Grid Search rather than adaptive Bayesian Optimization (</a:t>
            </a:r>
            <a:r>
              <a:rPr lang="en-US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Optuna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).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Limited Comparative Benchmarking: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Rare head-to-head evaluation between feature-engineered gradient boosting (</a:t>
            </a:r>
            <a:r>
              <a:rPr lang="en-US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XGBoost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) and sequence deep learning (LSTM) on identical grid data.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ctr"/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35" name="Picture 34" descr="1,407 Research Gap Royalty-Free Images, Stock Photos &amp; Pictures |  Shutterstock">
            <a:extLst>
              <a:ext uri="{FF2B5EF4-FFF2-40B4-BE49-F238E27FC236}">
                <a16:creationId xmlns:a16="http://schemas.microsoft.com/office/drawing/2014/main" id="{D8C92640-3CED-C672-A23A-5BE442AE4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39" b="6518"/>
          <a:stretch>
            <a:fillRect/>
          </a:stretch>
        </p:blipFill>
        <p:spPr>
          <a:xfrm>
            <a:off x="8219490" y="1963729"/>
            <a:ext cx="2988583" cy="29404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 pitchFamily="34" charset="-122"/>
                <a:cs typeface="Times New Roman"/>
              </a:rPr>
              <a:t>Dataset Overview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520440" cy="19919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76200" dist="25400" dir="5400000" algn="bl" rotWithShape="0">
              <a:srgbClr val="1F3A52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3D62"/>
                </a:solidFill>
                <a:latin typeface="Times New Roman"/>
                <a:ea typeface="Cambria" pitchFamily="34" charset="-122"/>
                <a:cs typeface="Times New Roman"/>
              </a:rPr>
              <a:t>PJME_hourly.csv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1C7293"/>
                </a:solidFill>
                <a:latin typeface="Times New Roman"/>
                <a:ea typeface="Calibri" pitchFamily="34" charset="-122"/>
                <a:cs typeface="Times New Roman"/>
              </a:rPr>
              <a:t>PJM Interconnection, USA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2582974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93B"/>
                </a:solidFill>
                <a:latin typeface="Times New Roman"/>
                <a:ea typeface="Calibri" pitchFamily="34" charset="-122"/>
                <a:cs typeface="Times New Roman"/>
              </a:rPr>
              <a:t>145,000+ hourly readings  •  2002–2018  •  Grid-level (MW)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1960" y="1600200"/>
            <a:ext cx="3520440" cy="19919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76200" dist="25400" dir="5400000" algn="bl" rotWithShape="0">
              <a:srgbClr val="1F3A52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783080"/>
            <a:ext cx="2514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3D62"/>
                </a:solidFill>
                <a:latin typeface="Times New Roman"/>
                <a:ea typeface="Cambria"/>
                <a:cs typeface="Times New Roman"/>
              </a:rPr>
              <a:t>India_Elec_data.csv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24231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1C7293"/>
                </a:solidFill>
                <a:latin typeface="Times New Roman"/>
                <a:ea typeface="Calibri" pitchFamily="34" charset="-122"/>
                <a:cs typeface="Times New Roman"/>
              </a:rPr>
              <a:t>Jan 2020 – Mar 2025, India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80560" y="2582974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93B"/>
                </a:solidFill>
                <a:latin typeface="Times New Roman"/>
                <a:ea typeface="Calibri" pitchFamily="34" charset="-122"/>
                <a:cs typeface="Times New Roman"/>
              </a:rPr>
              <a:t>69,000+ records  •  State-wise daily demand, drawl &amp; shortage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986171" y="1600200"/>
            <a:ext cx="3489549" cy="199190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  <a:effectLst>
            <a:outerShdw blurRad="76200" dist="25400" dir="5400000" algn="bl" rotWithShape="0">
              <a:srgbClr val="1F3A52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23960" y="178308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3D62"/>
                </a:solidFill>
                <a:latin typeface="Times New Roman"/>
                <a:ea typeface="Cambria" pitchFamily="34" charset="-122"/>
                <a:cs typeface="Times New Roman"/>
              </a:rPr>
              <a:t>Energy_consumption</a:t>
            </a:r>
            <a:endParaRPr lang="en-US" sz="14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400" b="1">
                <a:solidFill>
                  <a:srgbClr val="0A3D62"/>
                </a:solidFill>
                <a:latin typeface="Times New Roman"/>
                <a:ea typeface="Cambria" pitchFamily="34" charset="-122"/>
                <a:cs typeface="Times New Roman"/>
              </a:rPr>
              <a:t>_dataset.csv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183880" y="2443755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>
                <a:solidFill>
                  <a:srgbClr val="1C7293"/>
                </a:solidFill>
                <a:latin typeface="Times New Roman"/>
                <a:ea typeface="Calibri" pitchFamily="34" charset="-122"/>
                <a:cs typeface="Times New Roman"/>
              </a:rPr>
              <a:t>Synthetic building-level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83880" y="2665352"/>
            <a:ext cx="3063240" cy="841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7293B"/>
                </a:solidFill>
                <a:latin typeface="Times New Roman"/>
                <a:ea typeface="Calibri" pitchFamily="34" charset="-122"/>
                <a:cs typeface="Times New Roman"/>
              </a:rPr>
              <a:t>5,000 hourly records  •  Weather, occupancy, HVAC &amp; PV features</a:t>
            </a:r>
            <a:endParaRPr lang="en-US" sz="1400">
              <a:latin typeface="Times New Roman"/>
              <a:cs typeface="Times New Roman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1E8089-A0BE-0FEC-533C-FCF10D10B7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73" y="1777313"/>
            <a:ext cx="636373" cy="56429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792E5395-65FE-BC4C-E209-0B236924E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72232" y="1787610"/>
            <a:ext cx="636373" cy="56429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951859BC-E21A-92B0-D3CB-9FB3A1C437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2232" y="1777313"/>
            <a:ext cx="636373" cy="56429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A9B33AF-3FB2-1C47-4C5F-B4D7439A56F5}"/>
              </a:ext>
            </a:extLst>
          </p:cNvPr>
          <p:cNvSpPr txBox="1"/>
          <p:nvPr/>
        </p:nvSpPr>
        <p:spPr>
          <a:xfrm>
            <a:off x="545757" y="3943865"/>
            <a:ext cx="583856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 Dataset Overview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Three datasets were used to train and evaluate the forecasting models.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The datasets include USA hourly load, India electricity demand, and building-level energy consumption.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They provide diverse data for building a robust prediction model.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43BF5D3-5F0E-1237-032C-6FF0E2FC7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890456"/>
              </p:ext>
            </p:extLst>
          </p:nvPr>
        </p:nvGraphicFramePr>
        <p:xfrm>
          <a:off x="6919783" y="4097913"/>
          <a:ext cx="4415436" cy="173736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428985">
                  <a:extLst>
                    <a:ext uri="{9D8B030D-6E8A-4147-A177-3AD203B41FA5}">
                      <a16:colId xmlns:a16="http://schemas.microsoft.com/office/drawing/2014/main" val="1426287140"/>
                    </a:ext>
                  </a:extLst>
                </a:gridCol>
                <a:gridCol w="1428985">
                  <a:extLst>
                    <a:ext uri="{9D8B030D-6E8A-4147-A177-3AD203B41FA5}">
                      <a16:colId xmlns:a16="http://schemas.microsoft.com/office/drawing/2014/main" val="3712175742"/>
                    </a:ext>
                  </a:extLst>
                </a:gridCol>
                <a:gridCol w="1557466">
                  <a:extLst>
                    <a:ext uri="{9D8B030D-6E8A-4147-A177-3AD203B41FA5}">
                      <a16:colId xmlns:a16="http://schemas.microsoft.com/office/drawing/2014/main" val="1124773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Records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Frequency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441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PJME Hourly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145K+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Hourly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729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India Elec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69K+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Daily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897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Building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5K+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Hourly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542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7425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 pitchFamily="34" charset="-122"/>
                <a:cs typeface="Times New Roman"/>
              </a:rPr>
              <a:t>Methodology — End-to-End Pipeline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>
            <a:solidFill>
              <a:srgbClr val="4472C4"/>
            </a:solidFill>
          </a:ln>
        </p:spPr>
      </p:sp>
      <p:sp>
        <p:nvSpPr>
          <p:cNvPr id="42" name="Text 40"/>
          <p:cNvSpPr/>
          <p:nvPr/>
        </p:nvSpPr>
        <p:spPr>
          <a:xfrm>
            <a:off x="34747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A28614A-A7F2-7F45-72C2-3DD9EFC4F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410" y="1353360"/>
            <a:ext cx="11316731" cy="2540888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9C2FA2D-DACD-0AB9-F825-8B53088FFAC5}"/>
              </a:ext>
            </a:extLst>
          </p:cNvPr>
          <p:cNvSpPr txBox="1"/>
          <p:nvPr/>
        </p:nvSpPr>
        <p:spPr>
          <a:xfrm>
            <a:off x="3620663" y="4086456"/>
            <a:ext cx="519546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Figure 1: Load Forecasting &amp; Deployment Pipeline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676BB26-4866-3321-EAF0-EC89A71DB149}"/>
              </a:ext>
            </a:extLst>
          </p:cNvPr>
          <p:cNvSpPr txBox="1"/>
          <p:nvPr/>
        </p:nvSpPr>
        <p:spPr>
          <a:xfrm>
            <a:off x="979714" y="4941230"/>
            <a:ext cx="1075626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Data Preparation: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Cleaned the dataset and performed an </a:t>
            </a: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80:20 train-test split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while preserving time order.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Feature Selection: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Selected important input features for electricity consumption prediction.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Model Training: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Trained </a:t>
            </a: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Linear Regression, Random Forest, and </a:t>
            </a:r>
            <a:r>
              <a:rPr lang="en-US" sz="1600" b="1" err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XGBoost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models.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Model Evaluation: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Compared models using </a:t>
            </a: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MAE, RMSE, and R²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to select the best performer.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Deployment: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Saved the best model as a </a:t>
            </a:r>
            <a:r>
              <a:rPr lang="en-US" sz="1600" b="1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r>
              <a:rPr lang="en-US" sz="1600" b="1" err="1">
                <a:solidFill>
                  <a:srgbClr val="000000"/>
                </a:solidFill>
                <a:latin typeface="Times New Roman"/>
                <a:cs typeface="Times New Roman"/>
              </a:rPr>
              <a:t>pkl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file for dashboard integration.</a:t>
            </a:r>
          </a:p>
          <a:p>
            <a:pPr marL="285750" indent="-285750">
              <a:buFont typeface="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Exploratory Data Analysis (EDA) &amp; Feature Engineering</a:t>
            </a:r>
            <a:endParaRPr lang="en-US" b="1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14" name="Text 11"/>
          <p:cNvSpPr/>
          <p:nvPr/>
        </p:nvSpPr>
        <p:spPr>
          <a:xfrm>
            <a:off x="5743619" y="5138414"/>
            <a:ext cx="6085298" cy="6380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Figure: 2 Energy consumption over time plot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F9A9F3-6EF2-ACCB-1C0F-97D085366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123" y="1383333"/>
            <a:ext cx="6086070" cy="35990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39B77E-D765-55E8-F02C-380BF67D0CC7}"/>
              </a:ext>
            </a:extLst>
          </p:cNvPr>
          <p:cNvSpPr txBox="1"/>
          <p:nvPr/>
        </p:nvSpPr>
        <p:spPr>
          <a:xfrm>
            <a:off x="442784" y="1709352"/>
            <a:ext cx="5117757" cy="45397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EDA: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Analyzed the dataset to identify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daily, and seasonal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electricity consumption patterns.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Time Features: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Extracted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Hour, Day, Month, Weekday, and Weekend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to capture time-based trends.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Lag Features: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Created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Lag-1, Lag-24, and Lag-168</a:t>
            </a:r>
            <a:r>
              <a:rPr lang="en-US" sz="17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to use previous hour, daily, &amp; weekly consumption history.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Rolling Statistics: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Calculated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24-hour, 168-hour rolling averages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to reduce noise and highlight long-term trends.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Feature Engineering:</a:t>
            </a:r>
            <a:r>
              <a:rPr lang="en-US" sz="17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Combined time, lag, and rolling features for better prediction.</a:t>
            </a:r>
          </a:p>
          <a:p>
            <a:pPr marL="228600" indent="-228600">
              <a:buFont typeface=""/>
              <a:buChar char="•"/>
            </a:pP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Outcome: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 Prepared a clean and informative feature set for </a:t>
            </a:r>
            <a:r>
              <a:rPr lang="en-US" sz="1700" b="1">
                <a:solidFill>
                  <a:srgbClr val="000000"/>
                </a:solidFill>
                <a:latin typeface="Times New Roman"/>
                <a:cs typeface="Times New Roman"/>
              </a:rPr>
              <a:t>accurate short-term electricity load forecasting</a:t>
            </a:r>
            <a:r>
              <a:rPr lang="en-US" sz="170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algn="ctr"/>
            <a:endParaRPr lang="en-US" sz="17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latin typeface="Times New Roman"/>
                <a:ea typeface="+mn-lt"/>
                <a:cs typeface="Times New Roman"/>
              </a:rPr>
              <a:t>Bayesian Optimization via </a:t>
            </a:r>
            <a:r>
              <a:rPr lang="en-US" sz="3000" b="1" err="1">
                <a:latin typeface="Times New Roman"/>
                <a:ea typeface="+mn-lt"/>
                <a:cs typeface="Times New Roman"/>
              </a:rPr>
              <a:t>Optuna</a:t>
            </a:r>
            <a:r>
              <a:rPr lang="en-US" sz="3000" b="1">
                <a:latin typeface="Times New Roman"/>
                <a:ea typeface="+mn-lt"/>
                <a:cs typeface="Times New Roman"/>
              </a:rPr>
              <a:t> (</a:t>
            </a:r>
            <a:r>
              <a:rPr lang="en-US" sz="3000" b="1" err="1">
                <a:latin typeface="Times New Roman"/>
                <a:ea typeface="+mn-lt"/>
                <a:cs typeface="Times New Roman"/>
              </a:rPr>
              <a:t>XGBoost</a:t>
            </a:r>
            <a:r>
              <a:rPr lang="en-US" sz="3000" b="1">
                <a:latin typeface="Times New Roman"/>
                <a:ea typeface="+mn-lt"/>
                <a:cs typeface="Times New Roman"/>
              </a:rPr>
              <a:t>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3703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b="1">
              <a:solidFill>
                <a:srgbClr val="0A3D62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7033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>
              <a:solidFill>
                <a:srgbClr val="0A3D62"/>
              </a:solidFill>
              <a:latin typeface="Cambria"/>
              <a:ea typeface="Cambr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703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50" b="1">
              <a:solidFill>
                <a:srgbClr val="0A3D62"/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907792"/>
            <a:ext cx="37033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i="1">
              <a:solidFill>
                <a:srgbClr val="0A3D62"/>
              </a:solidFill>
              <a:latin typeface="Cambria"/>
              <a:ea typeface="Cambri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520440"/>
            <a:ext cx="370332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spcAft>
                <a:spcPts val="600"/>
              </a:spcAft>
              <a:buSzPct val="100000"/>
            </a:pPr>
            <a:endParaRPr lang="en-US" sz="1150">
              <a:solidFill>
                <a:srgbClr val="17293B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Chart 0"/>
          <p:cNvGraphicFramePr/>
          <p:nvPr/>
        </p:nvGraphicFramePr>
        <p:xfrm>
          <a:off x="4892040" y="1600200"/>
          <a:ext cx="67208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34747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6B7B8C"/>
              </a:solidFill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44DA07-9B54-2F65-433C-D273CDAB437D}"/>
              </a:ext>
            </a:extLst>
          </p:cNvPr>
          <p:cNvSpPr txBox="1"/>
          <p:nvPr/>
        </p:nvSpPr>
        <p:spPr>
          <a:xfrm>
            <a:off x="549067" y="1704203"/>
            <a:ext cx="53340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Optimization:</a:t>
            </a:r>
            <a:r>
              <a:rPr lang="en-US">
                <a:latin typeface="Times New Roman"/>
                <a:ea typeface="+mn-lt"/>
                <a:cs typeface="Times New Roman"/>
              </a:rPr>
              <a:t> Used </a:t>
            </a:r>
            <a:r>
              <a:rPr lang="en-US" err="1">
                <a:latin typeface="Times New Roman"/>
                <a:ea typeface="+mn-lt"/>
                <a:cs typeface="Times New Roman"/>
              </a:rPr>
              <a:t>Optuna</a:t>
            </a:r>
            <a:r>
              <a:rPr lang="en-US">
                <a:latin typeface="Times New Roman"/>
                <a:ea typeface="+mn-lt"/>
                <a:cs typeface="Times New Roman"/>
              </a:rPr>
              <a:t> to automatically find the best model settings.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Goal:</a:t>
            </a:r>
            <a:r>
              <a:rPr lang="en-US">
                <a:latin typeface="Times New Roman"/>
                <a:ea typeface="+mn-lt"/>
                <a:cs typeface="Times New Roman"/>
              </a:rPr>
              <a:t> Reduced prediction error (MSE) to improve accuracy.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Trials:</a:t>
            </a:r>
            <a:r>
              <a:rPr lang="en-US">
                <a:latin typeface="Times New Roman"/>
                <a:ea typeface="+mn-lt"/>
                <a:cs typeface="Times New Roman"/>
              </a:rPr>
              <a:t> Tested 60 different parameter combinations.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Parameters:</a:t>
            </a:r>
            <a:r>
              <a:rPr lang="en-US">
                <a:latin typeface="Times New Roman"/>
                <a:ea typeface="+mn-lt"/>
                <a:cs typeface="Times New Roman"/>
              </a:rPr>
              <a:t> Adjusted important </a:t>
            </a:r>
            <a:r>
              <a:rPr lang="en-US" err="1">
                <a:latin typeface="Times New Roman"/>
                <a:ea typeface="+mn-lt"/>
                <a:cs typeface="Times New Roman"/>
              </a:rPr>
              <a:t>XGBoost</a:t>
            </a:r>
            <a:r>
              <a:rPr lang="en-US">
                <a:latin typeface="Times New Roman"/>
                <a:ea typeface="+mn-lt"/>
                <a:cs typeface="Times New Roman"/>
              </a:rPr>
              <a:t> settings like number of trees, tree depth, and learning 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Result:</a:t>
            </a:r>
            <a:r>
              <a:rPr lang="en-US">
                <a:latin typeface="Times New Roman"/>
                <a:ea typeface="+mn-lt"/>
                <a:cs typeface="Times New Roman"/>
              </a:rPr>
              <a:t> The best settings improved the model's forecasting performance.</a:t>
            </a:r>
          </a:p>
          <a:p>
            <a:pPr marL="285750" indent="-285750">
              <a:buFont typeface="Arial"/>
              <a:buChar char="•"/>
            </a:pPr>
            <a:endParaRPr lang="en-US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24A0663-4F97-B295-DC81-A7CE12FD0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113" y="1598839"/>
            <a:ext cx="4766692" cy="36413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EB57E5-5D19-DB68-5196-7639BAB96021}"/>
              </a:ext>
            </a:extLst>
          </p:cNvPr>
          <p:cNvSpPr txBox="1"/>
          <p:nvPr/>
        </p:nvSpPr>
        <p:spPr>
          <a:xfrm>
            <a:off x="6652054" y="5478162"/>
            <a:ext cx="483973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Figure 3:</a:t>
            </a:r>
            <a:r>
              <a:rPr lang="en-US" sz="1600">
                <a:latin typeface="Times New Roman"/>
                <a:cs typeface="Times New Roman"/>
              </a:rPr>
              <a:t> Historical </a:t>
            </a:r>
            <a:r>
              <a:rPr lang="en-US" sz="1600" err="1">
                <a:latin typeface="Times New Roman"/>
                <a:cs typeface="Times New Roman"/>
              </a:rPr>
              <a:t>Optuna</a:t>
            </a:r>
            <a:r>
              <a:rPr lang="en-US" sz="1600">
                <a:latin typeface="Times New Roman"/>
                <a:cs typeface="Times New Roman"/>
              </a:rPr>
              <a:t> optimization (60 trials).</a:t>
            </a:r>
          </a:p>
          <a:p>
            <a:pPr algn="ctr"/>
            <a:endParaRPr lang="en-US"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Feature Interpretability using SHAP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B11FEDE-60FA-0A47-618C-4AE463E8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60" y="1565493"/>
            <a:ext cx="4247654" cy="373033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01B1DD5-7054-1AD2-7F8A-739619AEE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776" y="1574636"/>
            <a:ext cx="4140187" cy="400002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25AD32C-CBFA-255C-11B0-A8B73C4D0A9F}"/>
              </a:ext>
            </a:extLst>
          </p:cNvPr>
          <p:cNvSpPr txBox="1"/>
          <p:nvPr/>
        </p:nvSpPr>
        <p:spPr>
          <a:xfrm>
            <a:off x="4646175" y="1710574"/>
            <a:ext cx="3143118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Moving Beyond Black Boxes:</a:t>
            </a:r>
            <a:r>
              <a:rPr lang="en-US" sz="1400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Implemented SHAP </a:t>
            </a:r>
            <a:r>
              <a:rPr lang="en-US" sz="1400" dirty="0" err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TreeExplainer</a:t>
            </a:r>
            <a:r>
              <a:rPr lang="en-US" sz="1400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to provide mathematically rigorous, game-theoretic transparency to the </a:t>
            </a:r>
            <a:r>
              <a:rPr lang="en-US" sz="1400" dirty="0" err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XGBoost</a:t>
            </a:r>
            <a:r>
              <a:rPr lang="en-US" sz="1400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model. </a:t>
            </a:r>
            <a:endParaRPr lang="en-US" sz="1400" dirty="0">
              <a:solidFill>
                <a:srgbClr val="000000"/>
              </a:solidFill>
              <a:latin typeface="Times New Roman"/>
              <a:ea typeface="Calibri" panose="020F0502020204030204"/>
              <a:cs typeface="Times New Roman"/>
            </a:endParaRPr>
          </a:p>
          <a:p>
            <a:pPr marL="228600" indent="-228600">
              <a:buFont typeface=""/>
              <a:buChar char="•"/>
            </a:pPr>
            <a:endParaRPr lang="en-US" sz="1400" dirty="0">
              <a:solidFill>
                <a:srgbClr val="000000"/>
              </a:solidFill>
              <a:latin typeface="Times New Roman"/>
              <a:ea typeface="Google Sans Text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Global Feature Importance:</a:t>
            </a:r>
            <a:r>
              <a:rPr lang="en-US" sz="1400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The SHAP summary </a:t>
            </a:r>
            <a:r>
              <a:rPr lang="en-US" sz="1400" dirty="0" err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beeswarm</a:t>
            </a:r>
            <a:r>
              <a:rPr lang="en-US" sz="1400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plot confirms that Lag_24, Hour, and Rolling_Mean_24 exert the strongest predictive influence on electricity demand. </a:t>
            </a:r>
          </a:p>
          <a:p>
            <a:pPr marL="228600" indent="-228600">
              <a:buFont typeface=""/>
              <a:buChar char="•"/>
            </a:pPr>
            <a:endParaRPr lang="en-US" sz="1400" dirty="0">
              <a:solidFill>
                <a:srgbClr val="000000"/>
              </a:solidFill>
              <a:latin typeface="Times New Roman"/>
              <a:ea typeface="Google Sans Text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Local Interactions:</a:t>
            </a:r>
            <a:r>
              <a:rPr lang="en-US" sz="1400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Dependence plots reveal non-linear interactions, such as how the relationship between yesterday's load (Lag_24) and today's prediction shifts depending on the specific </a:t>
            </a:r>
            <a:r>
              <a:rPr lang="en-US" sz="1400" dirty="0" err="1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Hourof</a:t>
            </a:r>
            <a:r>
              <a:rPr lang="en-US" sz="1400" dirty="0">
                <a:solidFill>
                  <a:srgbClr val="000000"/>
                </a:solidFill>
                <a:latin typeface="Times New Roman"/>
                <a:ea typeface="Google Sans Text"/>
                <a:cs typeface="Times New Roman"/>
              </a:rPr>
              <a:t> the day. </a:t>
            </a:r>
          </a:p>
          <a:p>
            <a:pPr algn="ctr"/>
            <a:endParaRPr lang="en-US" sz="14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B9695-1A38-5952-D086-1C27FF35E6A7}"/>
              </a:ext>
            </a:extLst>
          </p:cNvPr>
          <p:cNvSpPr txBox="1"/>
          <p:nvPr/>
        </p:nvSpPr>
        <p:spPr>
          <a:xfrm>
            <a:off x="700216" y="5684108"/>
            <a:ext cx="3810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Figure 4:</a:t>
            </a:r>
            <a:r>
              <a:rPr lang="en-US" sz="1400">
                <a:latin typeface="Times New Roman"/>
                <a:cs typeface="Times New Roman"/>
              </a:rPr>
              <a:t> SHAP summary plot showing the global importance of input features.</a:t>
            </a:r>
          </a:p>
          <a:p>
            <a:pPr algn="ctr"/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B690A-9084-776A-A87B-906DCB1E514F}"/>
              </a:ext>
            </a:extLst>
          </p:cNvPr>
          <p:cNvSpPr txBox="1"/>
          <p:nvPr/>
        </p:nvSpPr>
        <p:spPr>
          <a:xfrm>
            <a:off x="7949514" y="5684107"/>
            <a:ext cx="381000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latin typeface="Times New Roman"/>
                <a:cs typeface="Times New Roman"/>
              </a:rPr>
              <a:t>Figure 5:</a:t>
            </a:r>
            <a:r>
              <a:rPr lang="en-US" sz="1400">
                <a:latin typeface="Times New Roman"/>
                <a:cs typeface="Times New Roman"/>
              </a:rPr>
              <a:t> SHAP dependence plot illustrating the impact of </a:t>
            </a:r>
            <a:r>
              <a:rPr lang="en-US" sz="1400" b="1">
                <a:latin typeface="Times New Roman"/>
                <a:cs typeface="Times New Roman"/>
              </a:rPr>
              <a:t>Lag_24</a:t>
            </a:r>
            <a:r>
              <a:rPr lang="en-US" sz="1400">
                <a:latin typeface="Times New Roman"/>
                <a:cs typeface="Times New Roman"/>
              </a:rPr>
              <a:t> on model predictions.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14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Sequence Deep Learning Benchmark (LSTM)</a:t>
            </a:r>
            <a:endParaRPr lang="en-US" b="1">
              <a:solidFill>
                <a:srgbClr val="000000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spcAft>
                <a:spcPts val="1000"/>
              </a:spcAft>
              <a:buSzPct val="100000"/>
            </a:pPr>
            <a:endParaRPr lang="en-US" sz="13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 b="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2" name="Text 150"/>
          <p:cNvSpPr/>
          <p:nvPr/>
        </p:nvSpPr>
        <p:spPr>
          <a:xfrm>
            <a:off x="557784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 b="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5483895" y="5715418"/>
            <a:ext cx="4206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100" i="1">
              <a:solidFill>
                <a:srgbClr val="000000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299" name="Text 297"/>
          <p:cNvSpPr/>
          <p:nvPr/>
        </p:nvSpPr>
        <p:spPr>
          <a:xfrm>
            <a:off x="6384537" y="1604430"/>
            <a:ext cx="5544446" cy="384361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Architecture Design: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Built a continuous sequence-aware neural network to natively model long-range temporal dependencies without relying on engineered lag features.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Sliding Window: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Input data was scaled via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MinMaxScaler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and reshaped into 168-hour (7-day) lookback sequences. 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Network Topology: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Layer 1: LSTM (128 units) --&gt; Dropout (0.2) --&gt; Batch Normalization.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Layer 2: LSTM (64 units) --&gt; Dropout (0.2) --&gt;  Batch Normalization.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Output: Dense (32 units) --&gt; Dense (1 unit) for single-step prediction. 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600" dirty="0">
              <a:solidFill>
                <a:srgbClr val="000000"/>
              </a:solidFill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Regularization: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Utilized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EarlyStopping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(patience=5) and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ReduceLROnPlateau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callbacks to prevent overfitting and ensure stable convergence. </a:t>
            </a:r>
            <a:endParaRPr lang="en-US" sz="16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16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301" name="Text 299"/>
          <p:cNvSpPr/>
          <p:nvPr/>
        </p:nvSpPr>
        <p:spPr>
          <a:xfrm>
            <a:off x="347472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9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319F83-31F2-360E-5A93-CF5119FC4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91" y="1575254"/>
            <a:ext cx="5858277" cy="37011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FDB305-83AA-18C0-8AD5-719F4CCEF9C6}"/>
              </a:ext>
            </a:extLst>
          </p:cNvPr>
          <p:cNvSpPr txBox="1"/>
          <p:nvPr/>
        </p:nvSpPr>
        <p:spPr>
          <a:xfrm>
            <a:off x="549679" y="5274864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latin typeface="Times New Roman"/>
                <a:cs typeface="Times New Roman"/>
              </a:rPr>
              <a:t>Figure 6:</a:t>
            </a:r>
            <a:r>
              <a:rPr lang="en-US" sz="1600">
                <a:latin typeface="Times New Roman"/>
                <a:cs typeface="Times New Roman"/>
              </a:rPr>
              <a:t> Training and validation loss curve of the LSTM model.</a:t>
            </a:r>
          </a:p>
          <a:p>
            <a:pPr algn="ctr"/>
            <a:endParaRPr lang="en-US"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 pitchFamily="34" charset="-122"/>
                <a:cs typeface="Times New Roman"/>
              </a:rPr>
              <a:t>Results — PJME Hourly Load Forecasting</a:t>
            </a:r>
            <a:endParaRPr lang="en-US" sz="3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39535904"/>
              </p:ext>
            </p:extLst>
          </p:nvPr>
        </p:nvGraphicFramePr>
        <p:xfrm>
          <a:off x="533811" y="1554480"/>
          <a:ext cx="5572075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2694464385"/>
              </p:ext>
            </p:extLst>
          </p:nvPr>
        </p:nvGraphicFramePr>
        <p:xfrm>
          <a:off x="6263640" y="1554480"/>
          <a:ext cx="5384663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ACC7D65-A2D8-EA90-8AE2-AE14CEE49A68}"/>
              </a:ext>
            </a:extLst>
          </p:cNvPr>
          <p:cNvSpPr txBox="1"/>
          <p:nvPr/>
        </p:nvSpPr>
        <p:spPr>
          <a:xfrm>
            <a:off x="628135" y="4664675"/>
            <a:ext cx="1127553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Model Convergence: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Training and validation loss decrease steadily, indicating stable learning. 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Generalization: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Validation loss closely follows training loss, showing minimal overfitting. 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Prediction Accuracy: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Predicted values closely match the actual hourly load pattern. 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Pattern Capture: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The model accurately captures daily trends and peak demand variations. 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Overall Performance: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The forecasting model demonstrates high accuracy and reliable performance on unseen data.</a:t>
            </a:r>
          </a:p>
          <a:p>
            <a:pPr>
              <a:buFont typeface=""/>
              <a:buChar char="•"/>
            </a:pPr>
            <a:endParaRPr lang="en-US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16407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Performance Comparison — PJME Hourly (Test Set)</a:t>
            </a:r>
            <a:endParaRPr lang="en-US" sz="3000">
              <a:solidFill>
                <a:srgbClr val="000000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051076"/>
              </p:ext>
            </p:extLst>
          </p:nvPr>
        </p:nvGraphicFramePr>
        <p:xfrm>
          <a:off x="692500" y="1293737"/>
          <a:ext cx="5402034" cy="2423160"/>
        </p:xfrm>
        <a:graphic>
          <a:graphicData uri="http://schemas.openxmlformats.org/drawingml/2006/table">
            <a:tbl>
              <a:tblPr/>
              <a:tblGrid>
                <a:gridCol w="1768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46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(MW)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(MW)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R^2 Score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>
                          <a:solidFill>
                            <a:srgbClr val="17293B"/>
                          </a:solidFill>
                          <a:latin typeface="Calibri"/>
                          <a:ea typeface="Calibri"/>
                          <a:cs typeface="Calibri"/>
                        </a:rPr>
                        <a:t>Linear Regression(Baseline)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965.0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1,232.7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0.9635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17293B"/>
                          </a:solidFill>
                        </a:rPr>
                        <a:t>Random Forest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334.9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464.9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0.9948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 err="1">
                          <a:solidFill>
                            <a:srgbClr val="17293B"/>
                          </a:solidFill>
                        </a:rPr>
                        <a:t>XGBoost</a:t>
                      </a:r>
                      <a:r>
                        <a:rPr lang="en-US" sz="1050" b="0" i="0" u="none" strike="noStrike" noProof="0" dirty="0">
                          <a:solidFill>
                            <a:srgbClr val="17293B"/>
                          </a:solidFill>
                        </a:rPr>
                        <a:t> (Default)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354.8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469.9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0.9947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050" b="0" i="0" u="none" strike="noStrike" noProof="0" dirty="0" err="1">
                          <a:solidFill>
                            <a:srgbClr val="17293B"/>
                          </a:solidFill>
                        </a:rPr>
                        <a:t>XGBoost</a:t>
                      </a:r>
                      <a:r>
                        <a:rPr lang="en-US" sz="1050" b="0" i="0" u="none" strike="noStrike" noProof="0" dirty="0">
                          <a:solidFill>
                            <a:srgbClr val="17293B"/>
                          </a:solidFill>
                        </a:rPr>
                        <a:t> (</a:t>
                      </a:r>
                      <a:r>
                        <a:rPr lang="en-US" sz="1050" b="0" i="0" u="none" strike="noStrike" noProof="0" dirty="0" err="1">
                          <a:solidFill>
                            <a:srgbClr val="17293B"/>
                          </a:solidFill>
                        </a:rPr>
                        <a:t>Optuna</a:t>
                      </a:r>
                      <a:r>
                        <a:rPr lang="en-US" sz="1050" b="0" i="0" u="none" strike="noStrike" noProof="0" dirty="0">
                          <a:solidFill>
                            <a:srgbClr val="17293B"/>
                          </a:solidFill>
                        </a:rPr>
                        <a:t> Tuned)</a:t>
                      </a:r>
                      <a:endParaRPr lang="en-US" dirty="0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269.4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370.9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7293B"/>
                          </a:solidFill>
                        </a:rPr>
                        <a:t>0.9967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050" b="0" i="0" u="none" strike="noStrike" noProof="0">
                          <a:solidFill>
                            <a:srgbClr val="FFFFFF"/>
                          </a:solidFill>
                        </a:rPr>
                        <a:t>LSTM 2 layer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611.0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780.8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1100" b="1" i="0" u="none" strike="noStrike" baseline="0" noProof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0.9853</a:t>
                      </a:r>
                      <a:endParaRPr lang="en-US"/>
                    </a:p>
                  </a:txBody>
                  <a:tcPr anchor="ctr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C48C77B-1DC8-BF74-F22B-6A87295CF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0790" y="1125714"/>
            <a:ext cx="4470535" cy="38020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050C6C-D188-36F3-50A6-D9A9E7434537}"/>
              </a:ext>
            </a:extLst>
          </p:cNvPr>
          <p:cNvSpPr txBox="1"/>
          <p:nvPr/>
        </p:nvSpPr>
        <p:spPr>
          <a:xfrm>
            <a:off x="545757" y="3933567"/>
            <a:ext cx="6909485" cy="26314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latin typeface="Times New Roman"/>
                <a:cs typeface="Times New Roman"/>
              </a:rPr>
              <a:t>Best Model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500" b="1" dirty="0" err="1">
                <a:latin typeface="Times New Roman"/>
                <a:cs typeface="Times New Roman"/>
              </a:rPr>
              <a:t>XGBoost</a:t>
            </a:r>
            <a:r>
              <a:rPr lang="en-US" sz="1500" b="1" dirty="0">
                <a:latin typeface="Times New Roman"/>
                <a:cs typeface="Times New Roman"/>
              </a:rPr>
              <a:t> (</a:t>
            </a:r>
            <a:r>
              <a:rPr lang="en-US" sz="1500" b="1" dirty="0" err="1">
                <a:latin typeface="Times New Roman"/>
                <a:cs typeface="Times New Roman"/>
              </a:rPr>
              <a:t>Optuna</a:t>
            </a:r>
            <a:r>
              <a:rPr lang="en-US" sz="1500" b="1" dirty="0">
                <a:latin typeface="Times New Roman"/>
                <a:cs typeface="Times New Roman"/>
              </a:rPr>
              <a:t> Tuned)</a:t>
            </a:r>
            <a:r>
              <a:rPr lang="en-US" sz="1500" dirty="0">
                <a:latin typeface="Times New Roman"/>
                <a:cs typeface="Times New Roman"/>
              </a:rPr>
              <a:t> delivered the best performance. </a:t>
            </a:r>
          </a:p>
          <a:p>
            <a:r>
              <a:rPr lang="en-US" sz="1500" b="1">
                <a:latin typeface="Times New Roman"/>
                <a:cs typeface="Times New Roman"/>
              </a:rPr>
              <a:t>Lowest Error</a:t>
            </a:r>
          </a:p>
          <a:p>
            <a:pPr marL="285750" indent="-285750">
              <a:buFont typeface="Arial"/>
              <a:buChar char="•"/>
            </a:pPr>
            <a:r>
              <a:rPr lang="en-US" sz="1500">
                <a:latin typeface="Times New Roman"/>
                <a:cs typeface="Times New Roman"/>
              </a:rPr>
              <a:t>Achieved </a:t>
            </a:r>
            <a:r>
              <a:rPr lang="en-US" sz="1500" b="1">
                <a:latin typeface="Times New Roman"/>
                <a:cs typeface="Times New Roman"/>
              </a:rPr>
              <a:t>MAE: 269.4 MW</a:t>
            </a:r>
            <a:r>
              <a:rPr lang="en-US" sz="1500">
                <a:latin typeface="Times New Roman"/>
                <a:cs typeface="Times New Roman"/>
              </a:rPr>
              <a:t> and </a:t>
            </a:r>
            <a:r>
              <a:rPr lang="en-US" sz="1500" b="1">
                <a:latin typeface="Times New Roman"/>
                <a:cs typeface="Times New Roman"/>
              </a:rPr>
              <a:t>RMSE: 370.9 MW</a:t>
            </a:r>
            <a:r>
              <a:rPr lang="en-US" sz="1500">
                <a:latin typeface="Times New Roman"/>
                <a:cs typeface="Times New Roman"/>
              </a:rPr>
              <a:t>. </a:t>
            </a:r>
          </a:p>
          <a:p>
            <a:r>
              <a:rPr lang="en-US" sz="1500" b="1">
                <a:latin typeface="Times New Roman"/>
                <a:cs typeface="Times New Roman"/>
              </a:rPr>
              <a:t>Highest Accuracy</a:t>
            </a:r>
          </a:p>
          <a:p>
            <a:pPr marL="285750" indent="-285750">
              <a:buFont typeface="Arial"/>
              <a:buChar char="•"/>
            </a:pPr>
            <a:r>
              <a:rPr lang="en-US" sz="1500">
                <a:latin typeface="Times New Roman"/>
                <a:cs typeface="Times New Roman"/>
              </a:rPr>
              <a:t>Recorded the highest </a:t>
            </a:r>
            <a:r>
              <a:rPr lang="en-US" sz="1500" b="1">
                <a:latin typeface="Times New Roman"/>
                <a:cs typeface="Times New Roman"/>
              </a:rPr>
              <a:t>R² score of 0.9967</a:t>
            </a:r>
            <a:r>
              <a:rPr lang="en-US" sz="1500">
                <a:latin typeface="Times New Roman"/>
                <a:cs typeface="Times New Roman"/>
              </a:rPr>
              <a:t>. </a:t>
            </a:r>
          </a:p>
          <a:p>
            <a:r>
              <a:rPr lang="en-US" sz="1500" b="1">
                <a:latin typeface="Times New Roman"/>
                <a:cs typeface="Times New Roman"/>
              </a:rPr>
              <a:t>Model Comparison</a:t>
            </a:r>
          </a:p>
          <a:p>
            <a:pPr marL="285750" indent="-285750">
              <a:buFont typeface="Arial"/>
              <a:buChar char="•"/>
            </a:pPr>
            <a:r>
              <a:rPr lang="en-US" sz="1500">
                <a:latin typeface="Times New Roman"/>
                <a:cs typeface="Times New Roman"/>
              </a:rPr>
              <a:t>Random Forest performed well, while Linear Regression had the highest error. </a:t>
            </a:r>
          </a:p>
          <a:p>
            <a:r>
              <a:rPr lang="en-US" sz="1500" b="1">
                <a:latin typeface="Times New Roman"/>
                <a:cs typeface="Times New Roman"/>
              </a:rPr>
              <a:t>Conclusion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 err="1">
                <a:latin typeface="Times New Roman"/>
                <a:cs typeface="Times New Roman"/>
              </a:rPr>
              <a:t>Optuna</a:t>
            </a:r>
            <a:r>
              <a:rPr lang="en-US" sz="1500" dirty="0">
                <a:latin typeface="Times New Roman"/>
                <a:cs typeface="Times New Roman"/>
              </a:rPr>
              <a:t> tuning improved </a:t>
            </a:r>
            <a:r>
              <a:rPr lang="en-US" sz="1500" dirty="0" err="1">
                <a:latin typeface="Times New Roman"/>
                <a:cs typeface="Times New Roman"/>
              </a:rPr>
              <a:t>XGBoost's</a:t>
            </a:r>
            <a:r>
              <a:rPr lang="en-US" sz="1500" dirty="0">
                <a:latin typeface="Times New Roman"/>
                <a:cs typeface="Times New Roman"/>
              </a:rPr>
              <a:t> forecasting accuracy.</a:t>
            </a:r>
          </a:p>
          <a:p>
            <a:pPr algn="ctr"/>
            <a:endParaRPr lang="en-US" sz="1500">
              <a:latin typeface="Times New Roman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7279AF-8EFB-D66E-B209-CC999CE1FB53}"/>
              </a:ext>
            </a:extLst>
          </p:cNvPr>
          <p:cNvSpPr txBox="1"/>
          <p:nvPr/>
        </p:nvSpPr>
        <p:spPr>
          <a:xfrm>
            <a:off x="7558216" y="5128055"/>
            <a:ext cx="3882082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>
                <a:latin typeface="Times New Roman"/>
                <a:cs typeface="Times New Roman"/>
              </a:rPr>
              <a:t>Figure 7:</a:t>
            </a:r>
            <a:r>
              <a:rPr lang="en-US" sz="1500">
                <a:latin typeface="Times New Roman"/>
                <a:cs typeface="Times New Roman"/>
              </a:rPr>
              <a:t> Comparison of MAE, RMSE, and R² across models.</a:t>
            </a:r>
          </a:p>
          <a:p>
            <a:pPr algn="ctr"/>
            <a:endParaRPr lang="en-US"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B6B064EA-C0D7-6881-2560-36A8EEDC2FBC}"/>
              </a:ext>
            </a:extLst>
          </p:cNvPr>
          <p:cNvSpPr/>
          <p:nvPr/>
        </p:nvSpPr>
        <p:spPr>
          <a:xfrm>
            <a:off x="611270" y="389559"/>
            <a:ext cx="109728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200" b="1">
                <a:solidFill>
                  <a:schemeClr val="accent5">
                    <a:lumMod val="49000"/>
                  </a:schemeClr>
                </a:solidFill>
                <a:latin typeface="Times New Roman"/>
                <a:ea typeface="Cambria"/>
                <a:cs typeface="Times New Roman"/>
              </a:rPr>
              <a:t>Conclusion &amp; Future Work</a:t>
            </a:r>
            <a:endParaRPr lang="en-US" sz="3200">
              <a:solidFill>
                <a:schemeClr val="accent5">
                  <a:lumMod val="49000"/>
                </a:schemeClr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51AA57B-AC07-911F-7FA6-8F0F444CA3FA}"/>
              </a:ext>
            </a:extLst>
          </p:cNvPr>
          <p:cNvSpPr/>
          <p:nvPr/>
        </p:nvSpPr>
        <p:spPr>
          <a:xfrm>
            <a:off x="607721" y="1417738"/>
            <a:ext cx="48463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Cambria"/>
                <a:cs typeface="Times New Roman"/>
              </a:rPr>
              <a:t>CONCLUSION</a:t>
            </a:r>
            <a:endParaRPr lang="en-US">
              <a:solidFill>
                <a:schemeClr val="accent2">
                  <a:lumMod val="76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0130945-A6A1-EDE0-1C86-EAABEB1CF62D}"/>
              </a:ext>
            </a:extLst>
          </p:cNvPr>
          <p:cNvSpPr/>
          <p:nvPr/>
        </p:nvSpPr>
        <p:spPr>
          <a:xfrm>
            <a:off x="607721" y="2090176"/>
            <a:ext cx="548630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SzPct val="100000"/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    Built a complete forecasting model using      advanced</a:t>
            </a:r>
          </a:p>
          <a:p>
            <a:pPr algn="just">
              <a:buSzPct val="100000"/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      preprocessing and deep learning.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End-to-End Pipeline: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Developed a deep learning forecasting model with advanced preprocessing.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Superior Accuracy: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Outperformed ARIMA, SVM, ANN, and 1D-CNN, achieving significant reductions in RMSE and MAPE.</a:t>
            </a:r>
            <a:endParaRPr lang="en-US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Real-World Impact: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Provides actionable predictions to optimize smart grid planning and energy management.</a:t>
            </a:r>
            <a:endParaRPr lang="en-US">
              <a:latin typeface="Times New Roman"/>
              <a:cs typeface="Times New Roman"/>
            </a:endParaRPr>
          </a:p>
          <a:p>
            <a:pPr algn="just">
              <a:spcAft>
                <a:spcPts val="1200"/>
              </a:spcAft>
            </a:pP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AA68677-CEC4-A941-BB86-7DDDED8F6D50}"/>
              </a:ext>
            </a:extLst>
          </p:cNvPr>
          <p:cNvSpPr/>
          <p:nvPr/>
        </p:nvSpPr>
        <p:spPr>
          <a:xfrm>
            <a:off x="6309360" y="1417738"/>
            <a:ext cx="53492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400" b="1">
                <a:solidFill>
                  <a:schemeClr val="accent2">
                    <a:lumMod val="76000"/>
                  </a:schemeClr>
                </a:solidFill>
                <a:latin typeface="Times New Roman"/>
                <a:ea typeface="Cambria"/>
                <a:cs typeface="Times New Roman"/>
              </a:rPr>
              <a:t>FUTURE WORK</a:t>
            </a:r>
            <a:endParaRPr lang="en-US" sz="2400">
              <a:solidFill>
                <a:schemeClr val="accent2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D2F334-8EAE-4DC8-E865-8FB97B995DC5}"/>
              </a:ext>
            </a:extLst>
          </p:cNvPr>
          <p:cNvSpPr txBox="1"/>
          <p:nvPr/>
        </p:nvSpPr>
        <p:spPr>
          <a:xfrm>
            <a:off x="6304767" y="2092891"/>
            <a:ext cx="549057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Advanced Architectures: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Leverage Attention and Transformer models for complex long-term seasonal patterns.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Uncertainty Quantification: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Implement probabilistic forecasting to quantify prediction confidence.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Edge Deployment: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Optimize lightweight models for real-time processing on smart meters.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Multimodal Data:</a:t>
            </a:r>
            <a:r>
              <a:rPr lang="en-US">
                <a:solidFill>
                  <a:srgbClr val="000000"/>
                </a:solidFill>
                <a:latin typeface="Times New Roman"/>
                <a:ea typeface="+mn-lt"/>
                <a:cs typeface="Times New Roman"/>
              </a:rPr>
              <a:t> Integrate live weather feeds, dynamic electricity pricing, and renewable energy generation data.</a:t>
            </a:r>
            <a:endParaRPr lang="en-US">
              <a:latin typeface="Times New Roman"/>
              <a:ea typeface="Calibri" panose="020F0502020204030204"/>
              <a:cs typeface="Times New Roman"/>
            </a:endParaRPr>
          </a:p>
          <a:p>
            <a:pPr algn="ctr"/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B4193BFA-B776-4873-A1B0-1D4739161E1F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</p:spTree>
    <p:extLst>
      <p:ext uri="{BB962C8B-B14F-4D97-AF65-F5344CB8AC3E}">
        <p14:creationId xmlns:p14="http://schemas.microsoft.com/office/powerpoint/2010/main" val="335825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58937" y="256740"/>
            <a:ext cx="110642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Cambria"/>
                <a:cs typeface="Times New Roman"/>
              </a:rPr>
              <a:t>References</a:t>
            </a:r>
            <a:endParaRPr lang="en-US" sz="3000">
              <a:solidFill>
                <a:srgbClr val="000000"/>
              </a:solidFill>
              <a:latin typeface="Times New Roman"/>
              <a:ea typeface="Cambria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5" name="Text 3"/>
          <p:cNvSpPr/>
          <p:nvPr/>
        </p:nvSpPr>
        <p:spPr>
          <a:xfrm>
            <a:off x="558937" y="1044146"/>
            <a:ext cx="11063003" cy="47651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[1] A. Sieminski, "International Energy Outlook," Intl. Energy Agency, pp. 5–30, 2017.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[2] H.-T. Pao, "Forecast of electricity consumption and economic growth in Taiwan," Energy, vol. 34, no. 11, pp. 1779–1791, 2009.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[3] J. P. Mohanty and S. Dash, "Forecasting Energy Consumption Using Hybrid CNN-LSTM Auto-Encoder with Hyperband Optimization," IJRASET, vol. 10, no. X, pp. 1041–1055, 2022.</a:t>
            </a:r>
            <a:endParaRPr lang="en-US" sz="16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[4] A.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Estebsari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and R. Rajabi, "Single Residential Load Forecasting Using Deep Learning and Image Encoding," Electronics, vol. 9, no. 1, p. 68, 2020.</a:t>
            </a: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[5] O. M. Neda, "Hybrid LSTM-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XGBoost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model for multi-horizon short-term load forecasting," e-Prime, vol. 17, p. 201211, 2026.</a:t>
            </a:r>
          </a:p>
          <a:p>
            <a:pPr marL="177800" indent="-177800" algn="l">
              <a:spcAft>
                <a:spcPts val="1000"/>
              </a:spcAft>
              <a:buSzPct val="100000"/>
              <a:buChar char="▪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 pitchFamily="34" charset="-122"/>
                <a:cs typeface="Times New Roman"/>
              </a:rPr>
              <a:t>[6] S. R. Rallapalli and S. Ghosh, "Forecasting monthly peak demand of electricity in India," Energy Policy, vol. 45, pp. 516–520, 2012.</a:t>
            </a:r>
          </a:p>
          <a:p>
            <a:pPr marL="177800" indent="-1778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[9] X. M. Zhang et al., "Forecasting Residential Energy Consumption: Single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HouseholdPerspective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," Proc. IEEE ICMLA, 2018, pp. 110–117.</a:t>
            </a:r>
          </a:p>
          <a:p>
            <a:pPr marL="177800" indent="-177800">
              <a:spcAft>
                <a:spcPts val="1000"/>
              </a:spcAft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[10] R. Rajabi and A. 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Estebsari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"Deep Learning Based Forecasting of Residential Loads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UsingRecurrence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Plots," Proc. IEEE Milan 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PowerTech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, 2019, pp. 1–5.</a:t>
            </a:r>
          </a:p>
          <a:p>
            <a:pPr marL="177800" indent="-177800">
              <a:spcAft>
                <a:spcPts val="1000"/>
              </a:spcAft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[19] L. Li, K. Jamieson, G. DeSalvo, A. Rostamizadeh, and A. Talwalkar, "Hyperband: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ANovel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Bandit-Based Approach to Hyperparameter Optimization," JMLR, vol. 18, no. 1, pp.6765–6816, 2018.</a:t>
            </a:r>
          </a:p>
          <a:p>
            <a:pPr marL="177800" indent="-177800">
              <a:spcAft>
                <a:spcPts val="1000"/>
              </a:spcAft>
              <a:buFont typeface="Arial"/>
              <a:buChar char="•"/>
            </a:pPr>
            <a:endParaRPr lang="en-US" sz="16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48</cp:revision>
  <dcterms:created xsi:type="dcterms:W3CDTF">2026-07-31T02:14:20Z</dcterms:created>
  <dcterms:modified xsi:type="dcterms:W3CDTF">2026-08-01T03:46:00Z</dcterms:modified>
</cp:coreProperties>
</file>