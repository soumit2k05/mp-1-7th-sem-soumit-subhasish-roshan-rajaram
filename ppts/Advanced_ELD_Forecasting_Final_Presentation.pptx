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7E39C6-D824-4107-9904-C62E94A98FB7}" v="927" dt="2026-09-12T04:24:04.562"/>
    <p1510:client id="{BCB39228-3572-48E7-A958-1A37511F2197}" v="9" dt="2026-09-12T10:23:33.974"/>
    <p1510:client id="{E7EA2BA5-E213-5997-0749-4A63B54B89F8}" v="31" dt="2026-09-12T04:44:44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B395B-6058-42AB-9CE9-7D378F48CB75}" type="datetimeFigureOut"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56DEF-FD87-408B-97A3-A9B7447D154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1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640080"/>
            <a:ext cx="2103120" cy="2103120"/>
          </a:xfrm>
          <a:prstGeom prst="ellipse">
            <a:avLst/>
          </a:prstGeom>
          <a:solidFill>
            <a:srgbClr val="EAF0F6"/>
          </a:solidFill>
          <a:ln/>
        </p:spPr>
      </p:sp>
      <p:sp>
        <p:nvSpPr>
          <p:cNvPr id="4" name="Shape 2"/>
          <p:cNvSpPr/>
          <p:nvPr/>
        </p:nvSpPr>
        <p:spPr>
          <a:xfrm>
            <a:off x="-1554480" y="5120640"/>
            <a:ext cx="3291840" cy="3291840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56991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>
                <a:solidFill>
                  <a:srgbClr val="E07A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PROJECT  •  2026 – 2027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131100" y="454904"/>
            <a:ext cx="10177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Electric Load Demand Forecasting Using AI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93945" y="591959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0B2545"/>
              </a:solidFill>
              <a:latin typeface="Times New Roman"/>
              <a:cs typeface="Times New Roman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9FC837-D02E-046D-1312-3CBA1806E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676" y="1693754"/>
            <a:ext cx="1395087" cy="1372383"/>
          </a:xfrm>
          <a:prstGeom prst="rect">
            <a:avLst/>
          </a:prstGeom>
        </p:spPr>
      </p:pic>
      <p:sp>
        <p:nvSpPr>
          <p:cNvPr id="18" name="TextBox 13">
            <a:extLst>
              <a:ext uri="{FF2B5EF4-FFF2-40B4-BE49-F238E27FC236}">
                <a16:creationId xmlns:a16="http://schemas.microsoft.com/office/drawing/2014/main" id="{22C3316A-5BDF-F02E-2827-A8DD71FDEE45}"/>
              </a:ext>
            </a:extLst>
          </p:cNvPr>
          <p:cNvSpPr txBox="1"/>
          <p:nvPr/>
        </p:nvSpPr>
        <p:spPr>
          <a:xfrm>
            <a:off x="3058438" y="3178479"/>
            <a:ext cx="6033371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/>
            <a:r>
              <a:rPr lang="en-US" sz="1800" b="1" kern="1200">
                <a:solidFill>
                  <a:srgbClr val="0C0C0C"/>
                </a:solidFill>
                <a:latin typeface="Times New Roman"/>
                <a:ea typeface="+mn-ea"/>
                <a:cs typeface="Times New Roman"/>
              </a:rPr>
              <a:t>Under The Supervision Of</a:t>
            </a:r>
            <a:endParaRPr lang="en-US" sz="1800" b="1" kern="120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0" algn="ctr" rtl="0"/>
            <a:r>
              <a:rPr lang="en-US" b="1">
                <a:solidFill>
                  <a:srgbClr val="0C0C0C"/>
                </a:solidFill>
                <a:latin typeface="Times New Roman"/>
                <a:cs typeface="Times New Roman"/>
              </a:rPr>
              <a:t>Dr</a:t>
            </a:r>
            <a:r>
              <a:rPr lang="en-US" sz="1800" b="1" kern="1200">
                <a:solidFill>
                  <a:srgbClr val="0C0C0C"/>
                </a:solidFill>
                <a:latin typeface="Times New Roman"/>
                <a:ea typeface="+mn-ea"/>
                <a:cs typeface="Times New Roman"/>
              </a:rPr>
              <a:t>. Mamtarani Das</a:t>
            </a:r>
            <a:endParaRPr lang="en-US" sz="1800" b="1" kern="120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algn="ctr"/>
            <a:endParaRPr lang="en-US" b="1">
              <a:solidFill>
                <a:srgbClr val="0C0C0C"/>
              </a:solidFill>
              <a:ea typeface="Calibri"/>
              <a:cs typeface="Calibri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8366E51F-EFB3-F170-9823-82E98EC26CAF}"/>
              </a:ext>
            </a:extLst>
          </p:cNvPr>
          <p:cNvSpPr/>
          <p:nvPr/>
        </p:nvSpPr>
        <p:spPr>
          <a:xfrm>
            <a:off x="2667573" y="3647166"/>
            <a:ext cx="7097664" cy="8041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Department of Computer Science and Engineering  | Major Project — 7th Semester</a:t>
            </a:r>
            <a:endParaRPr lang="en-US">
              <a:solidFill>
                <a:srgbClr val="0C0C0C"/>
              </a:solidFill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3AF1D82-C4AF-D2C2-ECC9-288867BC10F0}"/>
              </a:ext>
            </a:extLst>
          </p:cNvPr>
          <p:cNvSpPr/>
          <p:nvPr/>
        </p:nvSpPr>
        <p:spPr>
          <a:xfrm>
            <a:off x="2582032" y="4451668"/>
            <a:ext cx="7275116" cy="12509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err="1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Soumit</a:t>
            </a:r>
            <a:r>
              <a:rPr lang="en-US" sz="1700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 Mal  (Data Science) - </a:t>
            </a:r>
            <a:r>
              <a:rPr lang="en-US" sz="1700" b="1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2301020365 </a:t>
            </a:r>
          </a:p>
          <a:p>
            <a:pPr algn="ctr"/>
            <a:r>
              <a:rPr lang="en-US" sz="1700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Subhasish Kumar Sahu  (Data Science) - </a:t>
            </a:r>
            <a:r>
              <a:rPr lang="en-US" sz="1700" b="1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2301020857</a:t>
            </a:r>
          </a:p>
          <a:p>
            <a:pPr algn="ctr"/>
            <a:r>
              <a:rPr lang="en-US" sz="1700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Roshan Singh  (Data Science) - </a:t>
            </a:r>
            <a:r>
              <a:rPr lang="en-US" sz="1700" b="1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2301020380</a:t>
            </a:r>
          </a:p>
          <a:p>
            <a:pPr algn="ctr"/>
            <a:r>
              <a:rPr lang="en-US" sz="1700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Raja Ram Kumar  (Computer Science &amp; Core) - </a:t>
            </a:r>
            <a:r>
              <a:rPr lang="en-US" sz="1700" b="1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2301020406</a:t>
            </a: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DA2F9E9-149D-D434-06C2-30310BD1311B}"/>
              </a:ext>
            </a:extLst>
          </p:cNvPr>
          <p:cNvSpPr/>
          <p:nvPr/>
        </p:nvSpPr>
        <p:spPr>
          <a:xfrm>
            <a:off x="2665537" y="5885563"/>
            <a:ext cx="8371144" cy="344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C0C0C"/>
                </a:solidFill>
                <a:latin typeface="Times New Roman"/>
                <a:ea typeface="Calibri"/>
                <a:cs typeface="Times New Roman"/>
              </a:rPr>
              <a:t>GITHUB REPO: github.com/Soumit2k05/MP-1-7th-Sem-Soumit-Subhasish-Roshan-Rajaram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4" name="Text 2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694944" y="493776"/>
            <a:ext cx="109938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700"/>
          </a:p>
        </p:txBody>
      </p:sp>
      <p:sp>
        <p:nvSpPr>
          <p:cNvPr id="7" name="Shape 5"/>
          <p:cNvSpPr/>
          <p:nvPr/>
        </p:nvSpPr>
        <p:spPr>
          <a:xfrm>
            <a:off x="694944" y="2606040"/>
            <a:ext cx="5359756" cy="0"/>
          </a:xfrm>
          <a:prstGeom prst="line">
            <a:avLst/>
          </a:prstGeom>
          <a:noFill/>
          <a:ln w="9525">
            <a:solidFill>
              <a:srgbClr val="D6E2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783080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280160" y="1764792"/>
            <a:ext cx="477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Objectives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694944" y="3685032"/>
            <a:ext cx="5359756" cy="0"/>
          </a:xfrm>
          <a:prstGeom prst="line">
            <a:avLst/>
          </a:prstGeom>
          <a:noFill/>
          <a:ln w="9525">
            <a:solidFill>
              <a:srgbClr val="D6E2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862072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280160" y="2843784"/>
            <a:ext cx="477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&amp; Research Gap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694944" y="4764024"/>
            <a:ext cx="5359756" cy="0"/>
          </a:xfrm>
          <a:prstGeom prst="line">
            <a:avLst/>
          </a:prstGeom>
          <a:noFill/>
          <a:ln w="9525">
            <a:solidFill>
              <a:srgbClr val="D6E2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" y="3941064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280160" y="3922776"/>
            <a:ext cx="477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694944" y="5843016"/>
            <a:ext cx="5359756" cy="0"/>
          </a:xfrm>
          <a:prstGeom prst="line">
            <a:avLst/>
          </a:prstGeom>
          <a:noFill/>
          <a:ln w="9525">
            <a:solidFill>
              <a:srgbClr val="D6E2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5020056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280160" y="5001768"/>
            <a:ext cx="477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 — End-to-End Pipeline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6329020" y="2606040"/>
            <a:ext cx="5359756" cy="0"/>
          </a:xfrm>
          <a:prstGeom prst="line">
            <a:avLst/>
          </a:prstGeom>
          <a:noFill/>
          <a:ln w="9525">
            <a:solidFill>
              <a:srgbClr val="D6E2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9020" y="1783080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5" name="Text 23"/>
          <p:cNvSpPr/>
          <p:nvPr/>
        </p:nvSpPr>
        <p:spPr>
          <a:xfrm>
            <a:off x="63290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914236" y="1764792"/>
            <a:ext cx="477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&amp; Feature Engineering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6329020" y="3685032"/>
            <a:ext cx="5359756" cy="0"/>
          </a:xfrm>
          <a:prstGeom prst="line">
            <a:avLst/>
          </a:prstGeom>
          <a:noFill/>
          <a:ln w="9525">
            <a:solidFill>
              <a:srgbClr val="D6E2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9020" y="2862072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9" name="Text 27"/>
          <p:cNvSpPr/>
          <p:nvPr/>
        </p:nvSpPr>
        <p:spPr>
          <a:xfrm>
            <a:off x="632902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6914236" y="2843784"/>
            <a:ext cx="477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Training, Bayesian Optimization &amp; SHAP Explainability</a:t>
            </a:r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6329020" y="4764024"/>
            <a:ext cx="5359756" cy="0"/>
          </a:xfrm>
          <a:prstGeom prst="line">
            <a:avLst/>
          </a:prstGeom>
          <a:noFill/>
          <a:ln w="9525">
            <a:solidFill>
              <a:srgbClr val="D6E2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9020" y="3941064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33" name="Text 31"/>
          <p:cNvSpPr/>
          <p:nvPr/>
        </p:nvSpPr>
        <p:spPr>
          <a:xfrm>
            <a:off x="632902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6914236" y="3922776"/>
            <a:ext cx="477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Results, Performance Comparison &amp; Regional Case Study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6329020" y="5843016"/>
            <a:ext cx="5359756" cy="0"/>
          </a:xfrm>
          <a:prstGeom prst="line">
            <a:avLst/>
          </a:prstGeom>
          <a:noFill/>
          <a:ln w="9525">
            <a:solidFill>
              <a:srgbClr val="D6E2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9020" y="5020056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37" name="Text 35"/>
          <p:cNvSpPr/>
          <p:nvPr/>
        </p:nvSpPr>
        <p:spPr>
          <a:xfrm>
            <a:off x="6329020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6914236" y="5001768"/>
            <a:ext cx="477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263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54396" cy="2148840"/>
          </a:xfrm>
          <a:prstGeom prst="roundRect">
            <a:avLst>
              <a:gd name="adj" fmla="val 3404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Increasing Electricity Demand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Consumption shifts continuously with daily usage, weather conditions and seasonal variation, making accurate forecasting difficult.</a:t>
            </a:r>
            <a:endParaRPr lang="en-US" sz="1300">
              <a:solidFill>
                <a:srgbClr val="0C0C0C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277356" y="1417320"/>
            <a:ext cx="5454396" cy="2148840"/>
          </a:xfrm>
          <a:prstGeom prst="roundRect">
            <a:avLst>
              <a:gd name="adj" fmla="val 3404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7396" y="17373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5973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237476" y="1691640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of Traditional Methods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643116" y="2377440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approaches such as ARIMA, SVM and ANN struggle with noise, outliers and changing demand patterns, reducing reliability.</a:t>
            </a:r>
            <a:endParaRPr lang="en-US" sz="1300">
              <a:solidFill>
                <a:srgbClr val="0C0C0C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54396" cy="2148840"/>
          </a:xfrm>
          <a:prstGeom prst="roundRect">
            <a:avLst>
              <a:gd name="adj" fmla="val 3404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417320" y="4206240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of Imprecise Forecasting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predictions raise operational cost and energy wastage, and weaken the efficiency of power-system planning.</a:t>
            </a:r>
            <a:endParaRPr lang="en-US" sz="1300">
              <a:solidFill>
                <a:srgbClr val="0C0C0C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77356" y="3931920"/>
            <a:ext cx="5454396" cy="2148840"/>
          </a:xfrm>
          <a:prstGeom prst="roundRect">
            <a:avLst>
              <a:gd name="adj" fmla="val 3404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7396" y="42519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597396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for an Intelligent Solution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6643116" y="4892040"/>
            <a:ext cx="4722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AI-based model that handles noisy data effectively improves accuracy and supports better power-system decisions.</a:t>
            </a:r>
            <a:endParaRPr lang="en-US" sz="1300">
              <a:solidFill>
                <a:srgbClr val="0C0C0C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A82B81BA-7253-90C0-1B5E-C2BA8F62D0B0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Objectives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14344" cy="21259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Leakage-Free Evaluation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731520" y="2704286"/>
            <a:ext cx="29657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>
                <a:solidFill>
                  <a:srgbClr val="CBD8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 chronological train-test split so no training observation follows a test observation.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337304" y="1463040"/>
            <a:ext cx="3514344" cy="2125980"/>
          </a:xfrm>
          <a:prstGeom prst="roundRect">
            <a:avLst/>
          </a:prstGeom>
          <a:solidFill>
            <a:srgbClr val="13385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1624" y="1737360"/>
            <a:ext cx="411480" cy="41148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611624" y="22860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 Hyperparameter Optimization</a:t>
            </a:r>
            <a:endParaRPr lang="en-US" sz="1450"/>
          </a:p>
        </p:txBody>
      </p:sp>
      <p:sp>
        <p:nvSpPr>
          <p:cNvPr id="13" name="Text 11"/>
          <p:cNvSpPr/>
          <p:nvPr/>
        </p:nvSpPr>
        <p:spPr>
          <a:xfrm>
            <a:off x="4611624" y="2735601"/>
            <a:ext cx="29657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>
                <a:solidFill>
                  <a:srgbClr val="CBD8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Replace manual or exhaustive grid search with Optuna TPE across 60 trials.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8217408" y="1463040"/>
            <a:ext cx="3514344" cy="21259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91728" y="1737360"/>
            <a:ext cx="411480" cy="41148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6" name="Text 14"/>
          <p:cNvSpPr/>
          <p:nvPr/>
        </p:nvSpPr>
        <p:spPr>
          <a:xfrm>
            <a:off x="8491728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491728" y="22860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Game-Theoretic Explainability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>
          <a:xfrm>
            <a:off x="8491728" y="2735601"/>
            <a:ext cx="29657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>
                <a:solidFill>
                  <a:srgbClr val="CBD8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SHAP TreeExplainer to compute exact marginal feature contributions.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57200" y="3954780"/>
            <a:ext cx="3514344" cy="2125980"/>
          </a:xfrm>
          <a:prstGeom prst="roundRect">
            <a:avLst/>
          </a:prstGeom>
          <a:solidFill>
            <a:srgbClr val="13385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29100"/>
            <a:ext cx="411480" cy="41148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291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47777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Benchmarking</a:t>
            </a:r>
            <a:endParaRPr lang="en-US" sz="1450"/>
          </a:p>
        </p:txBody>
      </p:sp>
      <p:sp>
        <p:nvSpPr>
          <p:cNvPr id="23" name="Text 21"/>
          <p:cNvSpPr/>
          <p:nvPr/>
        </p:nvSpPr>
        <p:spPr>
          <a:xfrm>
            <a:off x="731520" y="5216903"/>
            <a:ext cx="29657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>
                <a:solidFill>
                  <a:srgbClr val="CBD8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Head-to-head evaluation of Linear Regression, Random Forest, XGBoost and LSTM.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4337304" y="3954780"/>
            <a:ext cx="3514344" cy="21259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1624" y="4229100"/>
            <a:ext cx="411480" cy="41148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6" name="Text 24"/>
          <p:cNvSpPr/>
          <p:nvPr/>
        </p:nvSpPr>
        <p:spPr>
          <a:xfrm>
            <a:off x="4611624" y="42291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4611624" y="47777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</a:t>
            </a:r>
            <a:endParaRPr lang="en-US" sz="1450"/>
          </a:p>
        </p:txBody>
      </p:sp>
      <p:sp>
        <p:nvSpPr>
          <p:cNvPr id="28" name="Text 26"/>
          <p:cNvSpPr/>
          <p:nvPr/>
        </p:nvSpPr>
        <p:spPr>
          <a:xfrm>
            <a:off x="4611624" y="5216903"/>
            <a:ext cx="29657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400">
                <a:solidFill>
                  <a:srgbClr val="CBD8E6"/>
                </a:solidFill>
                <a:latin typeface="Times New Roman" pitchFamily="34" charset="0"/>
                <a:cs typeface="Times New Roman" pitchFamily="34" charset="-120"/>
              </a:rPr>
              <a:t>Construct lag and rolling-mean features that encode recent load history.</a:t>
            </a:r>
          </a:p>
        </p:txBody>
      </p:sp>
      <p:sp>
        <p:nvSpPr>
          <p:cNvPr id="29" name="Shape 27"/>
          <p:cNvSpPr/>
          <p:nvPr/>
        </p:nvSpPr>
        <p:spPr>
          <a:xfrm>
            <a:off x="8217408" y="3954780"/>
            <a:ext cx="3514344" cy="2125980"/>
          </a:xfrm>
          <a:prstGeom prst="roundRect">
            <a:avLst/>
          </a:prstGeom>
          <a:solidFill>
            <a:srgbClr val="13385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91728" y="4229100"/>
            <a:ext cx="411480" cy="41148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1" name="Text 29"/>
          <p:cNvSpPr/>
          <p:nvPr/>
        </p:nvSpPr>
        <p:spPr>
          <a:xfrm>
            <a:off x="8491728" y="42291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8491728" y="47777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Reproducible Pipeline</a:t>
            </a:r>
            <a:endParaRPr lang="en-US" sz="1450"/>
          </a:p>
        </p:txBody>
      </p:sp>
      <p:sp>
        <p:nvSpPr>
          <p:cNvPr id="33" name="Text 31"/>
          <p:cNvSpPr/>
          <p:nvPr/>
        </p:nvSpPr>
        <p:spPr>
          <a:xfrm>
            <a:off x="8491728" y="5216903"/>
            <a:ext cx="29657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>
                <a:solidFill>
                  <a:srgbClr val="CBD8E6"/>
                </a:solidFill>
                <a:latin typeface="Times New Roman"/>
                <a:ea typeface="Times New Roman" pitchFamily="34" charset="-122"/>
                <a:cs typeface="Times New Roman"/>
              </a:rPr>
              <a:t>Deliver a </a:t>
            </a:r>
            <a:r>
              <a:rPr lang="en-US" sz="1400">
                <a:solidFill>
                  <a:srgbClr val="CBD8E6"/>
                </a:solidFill>
                <a:latin typeface="Times New Roman"/>
                <a:cs typeface="Times New Roman"/>
              </a:rPr>
              <a:t>documented</a:t>
            </a:r>
            <a:r>
              <a:rPr lang="en-US" sz="1400">
                <a:solidFill>
                  <a:srgbClr val="CBD8E6"/>
                </a:solidFill>
                <a:latin typeface="Times New Roman"/>
                <a:ea typeface="Times New Roman" pitchFamily="34" charset="-122"/>
                <a:cs typeface="Times New Roman"/>
              </a:rPr>
              <a:t>, end-to-end pipeline from raw CSV to a deployable model.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002D401A-5B35-2CF2-5168-651F71DE3FEC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&amp; Research Gap</a:t>
            </a:r>
            <a:endParaRPr lang="en-US" sz="29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130769"/>
              </p:ext>
            </p:extLst>
          </p:nvPr>
        </p:nvGraphicFramePr>
        <p:xfrm>
          <a:off x="457200" y="1151351"/>
          <a:ext cx="11274552" cy="229819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Study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Merit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Demerit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Bayesian Optimization of GBTs — P. Duan et al., 2023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TPE substantially reduces error vs. grid search.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No SHAP-based feature explainability.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Sequence-Aware LSTM Forecasting — S. Hochreiter et al., 2021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Captures long-range dependencies without manual lags.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High compute cost; weak interpretability.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Explainable AI via SHAP — A. Lundberg et al., 2022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Rigorous, mathematically grounded feature scores.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Single-model evaluation only.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Hybrid LSTM-XGBoost — O. M. Neda, e-Prime 2026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Combines boosting and recurrent strengths.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Doesn't isolate features vs. architecture effects.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3611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50">
                <a:solidFill>
                  <a:srgbClr val="3C7A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457200" y="3931920"/>
            <a:ext cx="2612898" cy="2148840"/>
          </a:xfrm>
          <a:prstGeom prst="roundRect">
            <a:avLst/>
          </a:prstGeom>
          <a:solidFill>
            <a:srgbClr val="EAF0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4133088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685800" y="455371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Leakage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" y="4937760"/>
            <a:ext cx="22014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splits let future data leak into training, inflating scores.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44418" y="3931920"/>
            <a:ext cx="2612898" cy="2148840"/>
          </a:xfrm>
          <a:prstGeom prst="roundRect">
            <a:avLst/>
          </a:prstGeom>
          <a:solidFill>
            <a:srgbClr val="EAF0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73018" y="4133088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4" name="Text 11"/>
          <p:cNvSpPr/>
          <p:nvPr/>
        </p:nvSpPr>
        <p:spPr>
          <a:xfrm>
            <a:off x="3573018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3573018" y="455371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Interpretability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73018" y="4937760"/>
            <a:ext cx="22014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High-accuracy models treated as black boxes, without SHAP validation.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31636" y="3931920"/>
            <a:ext cx="2612898" cy="2148840"/>
          </a:xfrm>
          <a:prstGeom prst="roundRect">
            <a:avLst/>
          </a:prstGeom>
          <a:solidFill>
            <a:srgbClr val="EAF0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60236" y="4133088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9" name="Text 16"/>
          <p:cNvSpPr/>
          <p:nvPr/>
        </p:nvSpPr>
        <p:spPr>
          <a:xfrm>
            <a:off x="6460236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/>
          </a:p>
        </p:txBody>
      </p:sp>
      <p:sp>
        <p:nvSpPr>
          <p:cNvPr id="20" name="Text 17"/>
          <p:cNvSpPr/>
          <p:nvPr/>
        </p:nvSpPr>
        <p:spPr>
          <a:xfrm>
            <a:off x="6460236" y="455371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Tuning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6460236" y="4937760"/>
            <a:ext cx="22014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reliance on manual/grid search rather than Bayesian Optimization.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18854" y="3931920"/>
            <a:ext cx="2612898" cy="2148840"/>
          </a:xfrm>
          <a:prstGeom prst="roundRect">
            <a:avLst/>
          </a:prstGeom>
          <a:solidFill>
            <a:srgbClr val="EAF0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47454" y="4133088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4" name="Text 21"/>
          <p:cNvSpPr/>
          <p:nvPr/>
        </p:nvSpPr>
        <p:spPr>
          <a:xfrm>
            <a:off x="9347454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/>
          </a:p>
        </p:txBody>
      </p:sp>
      <p:sp>
        <p:nvSpPr>
          <p:cNvPr id="25" name="Text 22"/>
          <p:cNvSpPr/>
          <p:nvPr/>
        </p:nvSpPr>
        <p:spPr>
          <a:xfrm>
            <a:off x="9347454" y="455371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Benchmarking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9347454" y="4937760"/>
            <a:ext cx="22014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Rare head-to-head test of </a:t>
            </a:r>
            <a:r>
              <a:rPr lang="en-US" sz="140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</a:t>
            </a: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against sequence deep learning.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EA74130E-7321-56DF-12E7-C11D04F9EE20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datasets were used to train and evaluate the forecasting models, spanning grid-level, national and building-level electricity demand.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75304" cy="26060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4767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PJME Hourly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29514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PJM Interconnection, USA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986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145,366 hourly readings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RANGE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4472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 2002 – Aug 2018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99592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Grid-level demand (MW)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56448" y="1783080"/>
            <a:ext cx="3575304" cy="26060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194767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Energy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30768" y="229514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building-level series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30768" y="269748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30768" y="28986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5,000+ hourly records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30768" y="324612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RANGE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30768" y="34472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Single-building span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430768" y="379476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0768" y="399592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Weather, occupancy, HVAC &amp; PV</a:t>
            </a:r>
            <a:endParaRPr lang="en-US" sz="1400">
              <a:solidFill>
                <a:srgbClr val="000000"/>
              </a:solidFill>
            </a:endParaRPr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371135"/>
              </p:ext>
            </p:extLst>
          </p:nvPr>
        </p:nvGraphicFramePr>
        <p:xfrm>
          <a:off x="427972" y="4613753"/>
          <a:ext cx="6429363" cy="1848162"/>
        </p:xfrm>
        <a:graphic>
          <a:graphicData uri="http://schemas.openxmlformats.org/drawingml/2006/table">
            <a:tbl>
              <a:tblPr/>
              <a:tblGrid>
                <a:gridCol w="2857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Dataset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Records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Frequency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PJME Hourly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145K+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Hourly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09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Times New Roman" charset="0"/>
                          <a:cs typeface="Times New Roman"/>
                        </a:rPr>
                        <a:t>Mediterranean_Electric_Load_2025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69K+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Daily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Building Energy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5K+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Hourly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7535240" y="4826487"/>
            <a:ext cx="3998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datasets were considered: PJME Hourly (primary), Mediterranean (regional study), and Building Energy (alternative).</a:t>
            </a:r>
          </a:p>
        </p:txBody>
      </p:sp>
      <p:sp>
        <p:nvSpPr>
          <p:cNvPr id="35" name="Text 32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9755B983-1055-E1D4-CF22-DB2597EB5CC4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AC4770EA-A28F-17ED-1F48-8ED6F7294215}"/>
              </a:ext>
            </a:extLst>
          </p:cNvPr>
          <p:cNvSpPr/>
          <p:nvPr/>
        </p:nvSpPr>
        <p:spPr>
          <a:xfrm>
            <a:off x="4308953" y="1783080"/>
            <a:ext cx="3575304" cy="26060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22B10009-6741-76B9-6AF4-7C636D9E4927}"/>
              </a:ext>
            </a:extLst>
          </p:cNvPr>
          <p:cNvSpPr/>
          <p:nvPr/>
        </p:nvSpPr>
        <p:spPr>
          <a:xfrm>
            <a:off x="4695966" y="1822412"/>
            <a:ext cx="3026664" cy="605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Mediterranean_Electric_Load_2025</a:t>
            </a:r>
            <a:endParaRPr lang="en-US" sz="14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2C7366-90BA-93C4-710C-7EEC0C23CA8A}"/>
              </a:ext>
            </a:extLst>
          </p:cNvPr>
          <p:cNvSpPr txBox="1"/>
          <p:nvPr/>
        </p:nvSpPr>
        <p:spPr>
          <a:xfrm>
            <a:off x="4530247" y="2437356"/>
            <a:ext cx="245301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RECORDS</a:t>
            </a:r>
            <a:br>
              <a:rPr lang="en-US" sz="1400">
                <a:latin typeface="Times New Roman"/>
                <a:cs typeface="Times New Roman"/>
              </a:rPr>
            </a:br>
            <a:r>
              <a:rPr lang="en-US" sz="1400">
                <a:latin typeface="Times New Roman"/>
                <a:cs typeface="Times New Roman"/>
              </a:rPr>
              <a:t>69,000+ daily records</a:t>
            </a:r>
          </a:p>
          <a:p>
            <a:endParaRPr lang="en-US" sz="1400">
              <a:latin typeface="Times New Roman"/>
              <a:cs typeface="Times New Roman"/>
            </a:endParaRPr>
          </a:p>
          <a:p>
            <a:r>
              <a:rPr lang="en-US" sz="1400" b="1">
                <a:latin typeface="Times New Roman"/>
                <a:cs typeface="Times New Roman"/>
              </a:rPr>
              <a:t>RANGE</a:t>
            </a:r>
            <a:br>
              <a:rPr lang="en-US" sz="1400">
                <a:latin typeface="Times New Roman"/>
                <a:cs typeface="Times New Roman"/>
              </a:rPr>
            </a:br>
            <a:r>
              <a:rPr lang="en-US" sz="1400">
                <a:latin typeface="Times New Roman"/>
                <a:cs typeface="Times New Roman"/>
              </a:rPr>
              <a:t>Jan 2020 – Mar 2025</a:t>
            </a:r>
            <a:endParaRPr lang="en-US"/>
          </a:p>
          <a:p>
            <a:endParaRPr lang="en-US" sz="1400">
              <a:latin typeface="Times New Roman"/>
              <a:cs typeface="Times New Roman"/>
            </a:endParaRPr>
          </a:p>
          <a:p>
            <a:r>
              <a:rPr lang="en-US" sz="1400" b="1">
                <a:latin typeface="Times New Roman"/>
                <a:cs typeface="Times New Roman"/>
              </a:rPr>
              <a:t>CONTENT</a:t>
            </a:r>
            <a:br>
              <a:rPr lang="en-US" sz="1400">
                <a:latin typeface="Times New Roman"/>
                <a:cs typeface="Times New Roman"/>
              </a:rPr>
            </a:br>
            <a:r>
              <a:rPr lang="en-US" sz="1400">
                <a:latin typeface="Times New Roman"/>
                <a:cs typeface="Times New Roman"/>
              </a:rPr>
              <a:t>Demand, draw &amp; shortage</a:t>
            </a:r>
          </a:p>
          <a:p>
            <a:pPr algn="ctr"/>
            <a:endParaRPr lang="en-US"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End-to-End Pipeline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772412" cy="868680"/>
          </a:xfrm>
          <a:prstGeom prst="roundRect">
            <a:avLst>
              <a:gd name="adj" fmla="val 6316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" y="1417320"/>
            <a:ext cx="16626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Ingestion &amp;</a:t>
            </a:r>
            <a:endParaRPr lang="en-US" sz="14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Split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229612" y="14173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357628" y="1417320"/>
            <a:ext cx="1772412" cy="868680"/>
          </a:xfrm>
          <a:prstGeom prst="roundRect">
            <a:avLst>
              <a:gd name="adj" fmla="val 6316"/>
            </a:avLst>
          </a:prstGeom>
          <a:solidFill>
            <a:srgbClr val="3C7A9C"/>
          </a:solidFill>
          <a:ln/>
        </p:spPr>
      </p:sp>
      <p:sp>
        <p:nvSpPr>
          <p:cNvPr id="8" name="Text 6"/>
          <p:cNvSpPr/>
          <p:nvPr/>
        </p:nvSpPr>
        <p:spPr>
          <a:xfrm>
            <a:off x="2412492" y="1417320"/>
            <a:ext cx="16626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</a:t>
            </a:r>
            <a:endParaRPr lang="en-US" sz="14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130040" y="14173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258056" y="1417320"/>
            <a:ext cx="1772412" cy="868680"/>
          </a:xfrm>
          <a:prstGeom prst="roundRect">
            <a:avLst>
              <a:gd name="adj" fmla="val 6316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4312920" y="1417320"/>
            <a:ext cx="16626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 Model</a:t>
            </a:r>
            <a:endParaRPr lang="en-US" sz="14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030468" y="14173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6158484" y="1417320"/>
            <a:ext cx="1772412" cy="868680"/>
          </a:xfrm>
          <a:prstGeom prst="roundRect">
            <a:avLst>
              <a:gd name="adj" fmla="val 6316"/>
            </a:avLst>
          </a:prstGeom>
          <a:solidFill>
            <a:srgbClr val="3C7A9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3348" y="1417320"/>
            <a:ext cx="16626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Optuna Bayesian</a:t>
            </a:r>
            <a:endParaRPr lang="en-US" sz="14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Tuning (XGBoost)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7930896" y="14173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8058912" y="1417320"/>
            <a:ext cx="1772412" cy="868680"/>
          </a:xfrm>
          <a:prstGeom prst="roundRect">
            <a:avLst>
              <a:gd name="adj" fmla="val 6316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8113776" y="1417320"/>
            <a:ext cx="16626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</a:t>
            </a:r>
            <a:endParaRPr lang="en-US" sz="14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9831324" y="141732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9959340" y="1417320"/>
            <a:ext cx="1772412" cy="868680"/>
          </a:xfrm>
          <a:prstGeom prst="roundRect">
            <a:avLst>
              <a:gd name="adj" fmla="val 6316"/>
            </a:avLst>
          </a:prstGeom>
          <a:solidFill>
            <a:srgbClr val="3C7A9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4204" y="1417320"/>
            <a:ext cx="16626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4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(MAE / RMSE / R²)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14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Model Saved (.pkl)  →  Deployment / Dashboard Integration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2072030" cy="2697480"/>
          </a:xfrm>
          <a:prstGeom prst="roundRect">
            <a:avLst>
              <a:gd name="adj" fmla="val 3530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4615" y="359359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1264615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21792" y="42519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Preparation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4709160"/>
            <a:ext cx="17062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Cleaned the dataset and applied an 80:20 chronological train-test split, preserving time order.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57830" y="3337560"/>
            <a:ext cx="2072030" cy="2697480"/>
          </a:xfrm>
          <a:prstGeom prst="roundRect">
            <a:avLst>
              <a:gd name="adj" fmla="val 3530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5246" y="359359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0" name="Text 28"/>
          <p:cNvSpPr/>
          <p:nvPr/>
        </p:nvSpPr>
        <p:spPr>
          <a:xfrm>
            <a:off x="3565246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2922422" y="42519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Selection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2940710" y="4709160"/>
            <a:ext cx="17062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temporal, lag and rolling-statistic inputs relevant to electricity consumption.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58461" y="3337560"/>
            <a:ext cx="2072030" cy="2697480"/>
          </a:xfrm>
          <a:prstGeom prst="roundRect">
            <a:avLst>
              <a:gd name="adj" fmla="val 3530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65876" y="359359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865876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5223053" y="42519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41341" y="4709160"/>
            <a:ext cx="17062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Linear Regression, Random Forest and XGBoost (default and Optuna-tuned) models.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359091" y="3337560"/>
            <a:ext cx="2072030" cy="2697480"/>
          </a:xfrm>
          <a:prstGeom prst="roundRect">
            <a:avLst>
              <a:gd name="adj" fmla="val 3530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66506" y="359359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0" name="Text 38"/>
          <p:cNvSpPr/>
          <p:nvPr/>
        </p:nvSpPr>
        <p:spPr>
          <a:xfrm>
            <a:off x="8166506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/>
          </a:p>
        </p:txBody>
      </p:sp>
      <p:sp>
        <p:nvSpPr>
          <p:cNvPr id="41" name="Text 39"/>
          <p:cNvSpPr/>
          <p:nvPr/>
        </p:nvSpPr>
        <p:spPr>
          <a:xfrm>
            <a:off x="7523683" y="42519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Evaluation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41971" y="4709160"/>
            <a:ext cx="17062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Compared models using MAE, RMSE and R² to select the best performer.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659722" y="3337560"/>
            <a:ext cx="2072030" cy="2697480"/>
          </a:xfrm>
          <a:prstGeom prst="roundRect">
            <a:avLst>
              <a:gd name="adj" fmla="val 3530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67137" y="359359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5" name="Text 43"/>
          <p:cNvSpPr/>
          <p:nvPr/>
        </p:nvSpPr>
        <p:spPr>
          <a:xfrm>
            <a:off x="10467137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/>
          </a:p>
        </p:txBody>
      </p:sp>
      <p:sp>
        <p:nvSpPr>
          <p:cNvPr id="46" name="Text 44"/>
          <p:cNvSpPr/>
          <p:nvPr/>
        </p:nvSpPr>
        <p:spPr>
          <a:xfrm>
            <a:off x="9824314" y="42519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9842602" y="4709160"/>
            <a:ext cx="17062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the best model as a .pkl file for dashboard integration.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/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94E37E33-41E8-B491-09BD-301D6D8FCB51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(EDA)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dataset was analyzed to identify daily and seasonal electricity consumption patterns before feature engineering began.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pic>
        <p:nvPicPr>
          <p:cNvPr id="6" name="Image 0" descr="assets/eda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4520"/>
            <a:ext cx="6217920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257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— hourly load-variation pattern used to validate temporal feature choices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223760" y="1737360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Features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223760" y="2039112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Extracted Hour, Day, Month, Weekday and Weekend to capture time-based trends.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223760" y="2606040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 Features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223760" y="2907792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Created Lag-1, Lag-24 and Lag-168 from prior hour, day and week consumption.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223760" y="3474720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 Statistics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223760" y="3776472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24-hour and 168-hour rolling averages reduce noise and highlight longer-term trends.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223760" y="4393003"/>
            <a:ext cx="4507992" cy="1675773"/>
          </a:xfrm>
          <a:prstGeom prst="roundRect">
            <a:avLst/>
          </a:prstGeom>
          <a:solidFill>
            <a:srgbClr val="EAF0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4489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7452360" y="478231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Demand is lowest 03:00–05:00, rises sharply in the 06:00–09:00 morning ramp, plateaus by day, and peaks 17:00–20:00. Weekend demand runs 8–12% below equivalent weekday hours.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F15BF009-BFED-83DA-0930-7617F61A07A6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 Pipeline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51145" y="134926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Time, lag and rolling-window signals are combined into a single feature matrix used identically across every model.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20240" cy="3566160"/>
          </a:xfrm>
          <a:prstGeom prst="roundRect">
            <a:avLst/>
          </a:prstGeom>
          <a:solidFill>
            <a:srgbClr val="0B254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737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Datetime-</a:t>
            </a:r>
            <a:endParaRPr lang="en-US" sz="140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Indexed Series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2395728" y="1828800"/>
            <a:ext cx="502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3052802" y="1828800"/>
            <a:ext cx="5176798" cy="1126006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99339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13385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9933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Time-Based Features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3200400" y="24323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 • Day • Month • Weekday • Weekend • Quarter • Year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3200400" y="26791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Captures intra-day, weekly and seasonal demand cycles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3052802" y="3064535"/>
            <a:ext cx="5176798" cy="1564416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3218688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3C7A9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2186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 Features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20040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Lag_1 (t-1)  •  Lag_24 (t-24)  •  Lag_168 (t-168)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200400" y="401931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Strongest short-term predictors: previous hour, same hour yesterday, same hour last week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3052802" y="4749119"/>
            <a:ext cx="5176798" cy="1376526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496590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3E6B87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535262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Rolling_Mean_24  •  Rolling_Mean_168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3200400" y="56621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Smooths short-term noise and encodes recent demand level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8366760" y="1828800"/>
            <a:ext cx="502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9006840" y="1828800"/>
            <a:ext cx="2724912" cy="3566160"/>
          </a:xfrm>
          <a:prstGeom prst="roundRect">
            <a:avLst/>
          </a:prstGeom>
          <a:solidFill>
            <a:srgbClr val="E07A3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1828800"/>
            <a:ext cx="25420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Combined</a:t>
            </a:r>
            <a:endParaRPr lang="en-US" sz="140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</a:t>
            </a:r>
            <a:endParaRPr lang="en-US" sz="140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Matrix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40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C3E7CF49-B2BA-143E-CA48-79A6F9C4CA3E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A6DF90FE-2E18-D753-0981-80F3883E03D6}"/>
              </a:ext>
            </a:extLst>
          </p:cNvPr>
          <p:cNvSpPr/>
          <p:nvPr/>
        </p:nvSpPr>
        <p:spPr>
          <a:xfrm>
            <a:off x="3200400" y="496590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 Statistics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AI/ML Models &amp; Bayesian Optimization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3C7A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TRAINED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916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21792" y="19842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baseline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5328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282549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n_estimators=200, depth=15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3741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(Default)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366674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Sklearn-compatible defaults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AF0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2153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(Optuna Tuned)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" y="45079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of 60-trial TPE search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965192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5056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 (2-Layer)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" y="53492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168-hour sliding window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5824728"/>
            <a:ext cx="5766565" cy="70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i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 topology: LSTM(128) → Dropout(0.2) → BatchNorm → LSTM(64) → Dropout(0.2) → BatchNorm → Dense(32) → Dense(1), with EarlyStopping and ReduceLROnPlateau.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1280160"/>
            <a:ext cx="6931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3C7A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 HYPERPARAMETER SEARCH — OPTUNA (XGBOOST)</a:t>
            </a:r>
            <a:endParaRPr lang="en-US" sz="1400"/>
          </a:p>
        </p:txBody>
      </p:sp>
      <p:pic>
        <p:nvPicPr>
          <p:cNvPr id="22" name="Image 0" descr="assets/optuna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572768"/>
            <a:ext cx="4160520" cy="31546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800600" y="4917927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— Optuna TPE optimization history across 60 trials (objective = validation MSE)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44000" y="15727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n_estimators</a:t>
            </a:r>
            <a:endParaRPr lang="en-US" sz="1400"/>
          </a:p>
        </p:txBody>
      </p:sp>
      <p:sp>
        <p:nvSpPr>
          <p:cNvPr id="25" name="Text 22"/>
          <p:cNvSpPr/>
          <p:nvPr/>
        </p:nvSpPr>
        <p:spPr>
          <a:xfrm>
            <a:off x="10561320" y="157276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– 800 (int)</a:t>
            </a:r>
            <a:endParaRPr lang="en-US" sz="1400"/>
          </a:p>
        </p:txBody>
      </p:sp>
      <p:sp>
        <p:nvSpPr>
          <p:cNvPr id="26" name="Text 23"/>
          <p:cNvSpPr/>
          <p:nvPr/>
        </p:nvSpPr>
        <p:spPr>
          <a:xfrm>
            <a:off x="9144000" y="19019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learning_rate</a:t>
            </a:r>
            <a:endParaRPr lang="en-US" sz="1400"/>
          </a:p>
        </p:txBody>
      </p:sp>
      <p:sp>
        <p:nvSpPr>
          <p:cNvPr id="27" name="Text 24"/>
          <p:cNvSpPr/>
          <p:nvPr/>
        </p:nvSpPr>
        <p:spPr>
          <a:xfrm>
            <a:off x="10561320" y="19019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0.01 – 0.3 (log)</a:t>
            </a:r>
            <a:endParaRPr lang="en-US" sz="1400"/>
          </a:p>
        </p:txBody>
      </p:sp>
      <p:sp>
        <p:nvSpPr>
          <p:cNvPr id="28" name="Text 25"/>
          <p:cNvSpPr/>
          <p:nvPr/>
        </p:nvSpPr>
        <p:spPr>
          <a:xfrm>
            <a:off x="9144000" y="22311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max_depth</a:t>
            </a:r>
            <a:endParaRPr lang="en-US" sz="1400"/>
          </a:p>
        </p:txBody>
      </p:sp>
      <p:sp>
        <p:nvSpPr>
          <p:cNvPr id="29" name="Text 26"/>
          <p:cNvSpPr/>
          <p:nvPr/>
        </p:nvSpPr>
        <p:spPr>
          <a:xfrm>
            <a:off x="10561320" y="223113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– 10 (int)</a:t>
            </a:r>
            <a:endParaRPr lang="en-US" sz="1400"/>
          </a:p>
        </p:txBody>
      </p:sp>
      <p:sp>
        <p:nvSpPr>
          <p:cNvPr id="30" name="Text 27"/>
          <p:cNvSpPr/>
          <p:nvPr/>
        </p:nvSpPr>
        <p:spPr>
          <a:xfrm>
            <a:off x="9144000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subsample</a:t>
            </a:r>
            <a:endParaRPr lang="en-US" sz="1400"/>
          </a:p>
        </p:txBody>
      </p:sp>
      <p:sp>
        <p:nvSpPr>
          <p:cNvPr id="31" name="Text 28"/>
          <p:cNvSpPr/>
          <p:nvPr/>
        </p:nvSpPr>
        <p:spPr>
          <a:xfrm>
            <a:off x="10561320" y="256032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– 1.0</a:t>
            </a:r>
            <a:endParaRPr lang="en-US" sz="1400"/>
          </a:p>
        </p:txBody>
      </p:sp>
      <p:sp>
        <p:nvSpPr>
          <p:cNvPr id="32" name="Text 29"/>
          <p:cNvSpPr/>
          <p:nvPr/>
        </p:nvSpPr>
        <p:spPr>
          <a:xfrm>
            <a:off x="9144000" y="28895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colsample_bytree</a:t>
            </a:r>
            <a:endParaRPr lang="en-US" sz="1400"/>
          </a:p>
        </p:txBody>
      </p:sp>
      <p:sp>
        <p:nvSpPr>
          <p:cNvPr id="33" name="Text 30"/>
          <p:cNvSpPr/>
          <p:nvPr/>
        </p:nvSpPr>
        <p:spPr>
          <a:xfrm>
            <a:off x="10561320" y="2889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– 1.0</a:t>
            </a:r>
            <a:endParaRPr lang="en-US" sz="1400"/>
          </a:p>
        </p:txBody>
      </p:sp>
      <p:sp>
        <p:nvSpPr>
          <p:cNvPr id="34" name="Text 31"/>
          <p:cNvSpPr/>
          <p:nvPr/>
        </p:nvSpPr>
        <p:spPr>
          <a:xfrm>
            <a:off x="9144000" y="3218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reg_alpha / reg_lambda</a:t>
            </a:r>
            <a:endParaRPr lang="en-US" sz="1400"/>
          </a:p>
        </p:txBody>
      </p:sp>
      <p:sp>
        <p:nvSpPr>
          <p:cNvPr id="35" name="Text 32"/>
          <p:cNvSpPr/>
          <p:nvPr/>
        </p:nvSpPr>
        <p:spPr>
          <a:xfrm>
            <a:off x="10561320" y="321868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1e-8 – 10.0 (log)</a:t>
            </a:r>
            <a:endParaRPr lang="en-US" sz="1400"/>
          </a:p>
        </p:txBody>
      </p:sp>
      <p:sp>
        <p:nvSpPr>
          <p:cNvPr id="36" name="Shape 33"/>
          <p:cNvSpPr/>
          <p:nvPr/>
        </p:nvSpPr>
        <p:spPr>
          <a:xfrm>
            <a:off x="9144000" y="1536192"/>
            <a:ext cx="2587752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44000" y="3685032"/>
            <a:ext cx="2587752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281160" y="38221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07A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21.1% RMSE Reduction</a:t>
            </a:r>
            <a:endParaRPr lang="en-US" sz="1400"/>
          </a:p>
        </p:txBody>
      </p:sp>
      <p:sp>
        <p:nvSpPr>
          <p:cNvPr id="39" name="Text 36"/>
          <p:cNvSpPr/>
          <p:nvPr/>
        </p:nvSpPr>
        <p:spPr>
          <a:xfrm>
            <a:off x="9281160" y="416966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CBD8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 default XGBoost</a:t>
            </a:r>
            <a:endParaRPr lang="en-US" sz="1400"/>
          </a:p>
        </p:txBody>
      </p:sp>
      <p:sp>
        <p:nvSpPr>
          <p:cNvPr id="40" name="Text 37"/>
          <p:cNvSpPr/>
          <p:nvPr/>
        </p:nvSpPr>
        <p:spPr>
          <a:xfrm>
            <a:off x="9281160" y="446227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RMSE: 469.9 → 370.9 MW</a:t>
            </a:r>
            <a:endParaRPr lang="en-US" sz="1400"/>
          </a:p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 trials • TPE method</a:t>
            </a:r>
            <a:endParaRPr lang="en-US" sz="1400"/>
          </a:p>
        </p:txBody>
      </p:sp>
      <p:sp>
        <p:nvSpPr>
          <p:cNvPr id="42" name="Text 3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/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3CA281B1-7E1B-5757-7797-4DFDE8BC1C9A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PJME Hourly Load Forecasting</a:t>
            </a:r>
            <a:endParaRPr lang="en-US" sz="29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427421"/>
              </p:ext>
            </p:extLst>
          </p:nvPr>
        </p:nvGraphicFramePr>
        <p:xfrm>
          <a:off x="457200" y="1292123"/>
          <a:ext cx="5760720" cy="21285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Model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MAE (MW)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RMSE (MW)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R²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Linear Regression (Baseline)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965.0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1,232.7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0.9635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Random Forest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334.9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464.9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0.9948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XGBoost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 (Default)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354.8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469.9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0.9947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XGBoost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 (</a:t>
                      </a:r>
                      <a:r>
                        <a:rPr lang="en-US" sz="1400" b="1" err="1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Optuna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 Tuned)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269.4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370.9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0.9967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LSTM (2-Layer)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611.0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780.8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0.9853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0" descr="assets/rms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490" y="1292123"/>
            <a:ext cx="4308190" cy="225574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555722"/>
            <a:ext cx="2602460" cy="1505836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3694176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07A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Model</a:t>
            </a:r>
            <a:endParaRPr lang="en-US" sz="1400"/>
          </a:p>
        </p:txBody>
      </p:sp>
      <p:sp>
        <p:nvSpPr>
          <p:cNvPr id="8" name="Text 4"/>
          <p:cNvSpPr/>
          <p:nvPr/>
        </p:nvSpPr>
        <p:spPr>
          <a:xfrm>
            <a:off x="640080" y="3986784"/>
            <a:ext cx="2247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(Optuna Tuned) delivered the strongest performance across all three metrics.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3344418" y="3555722"/>
            <a:ext cx="2612898" cy="1505836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527298" y="3694176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07A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 Error</a:t>
            </a:r>
            <a:endParaRPr lang="en-US" sz="1400"/>
          </a:p>
        </p:txBody>
      </p:sp>
      <p:sp>
        <p:nvSpPr>
          <p:cNvPr id="11" name="Text 7"/>
          <p:cNvSpPr/>
          <p:nvPr/>
        </p:nvSpPr>
        <p:spPr>
          <a:xfrm>
            <a:off x="3527298" y="3986784"/>
            <a:ext cx="2247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Achieved MAE 269.4 MW and RMSE 370.9 MW on the chronologically held-out test set.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" name="Shape 8"/>
          <p:cNvSpPr/>
          <p:nvPr/>
        </p:nvSpPr>
        <p:spPr>
          <a:xfrm>
            <a:off x="6221198" y="3555722"/>
            <a:ext cx="2623336" cy="1505836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14516" y="3694176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07A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 Accuracy</a:t>
            </a:r>
            <a:endParaRPr lang="en-US" sz="1400"/>
          </a:p>
        </p:txBody>
      </p:sp>
      <p:sp>
        <p:nvSpPr>
          <p:cNvPr id="14" name="Text 10"/>
          <p:cNvSpPr/>
          <p:nvPr/>
        </p:nvSpPr>
        <p:spPr>
          <a:xfrm>
            <a:off x="6414516" y="3986784"/>
            <a:ext cx="2247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Recorded the highest R² score of 0.9967 among all five models.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118854" y="3555722"/>
            <a:ext cx="2612898" cy="1505836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301734" y="3694176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07A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Tuning Impact</a:t>
            </a:r>
            <a:endParaRPr lang="en-US" sz="1400"/>
          </a:p>
        </p:txBody>
      </p:sp>
      <p:sp>
        <p:nvSpPr>
          <p:cNvPr id="17" name="Text 13"/>
          <p:cNvSpPr/>
          <p:nvPr/>
        </p:nvSpPr>
        <p:spPr>
          <a:xfrm>
            <a:off x="9301734" y="3986784"/>
            <a:ext cx="2247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Optuna tuning cut XGBoost's RMSE by 21.1% versus its default configuration.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" y="5515836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performed well as an ensemble baseline, while plain Linear Regression recorded the highest error; disciplined feature engineering combined with Bayesian tuning outperformed the sequence-based LSTM.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>
              <a:solidFill>
                <a:srgbClr val="000000"/>
              </a:solidFill>
            </a:endParaRP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9DE82593-B1AB-5777-CE9A-4B0BE8F07E7B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 Using SHAP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TreeExplainer provides game-theoretic, mathematically rigorous transparency for the XGBoost (Optuna Tuned) model.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pic>
        <p:nvPicPr>
          <p:cNvPr id="6" name="Image 0" descr="assets/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20"/>
            <a:ext cx="507492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3309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— SHAP beeswarm summary: global feature importance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199632" y="17373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pic>
        <p:nvPicPr>
          <p:cNvPr id="9" name="Image 1" descr="assets/shap_depen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874520"/>
            <a:ext cx="5074920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28232" y="53309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— SHAP dependence plot for Lag_24, coloured by Hour of day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Lag_1 is the dominant predictor by a wide margin; Lag_24 and Hour follow as the next-strongest signals. The Lag_24 dependence plot reveals a non-linear interaction that strengthens at evening peak hours (17–21).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40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1D44E56-0383-620D-0F8E-DCA45A99A77E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Mediterranean Analysis — Countries &amp; Classification</a:t>
            </a:r>
            <a:endParaRPr lang="en-US" sz="2900"/>
          </a:p>
        </p:txBody>
      </p:sp>
      <p:pic>
        <p:nvPicPr>
          <p:cNvPr id="4" name="Image 0" descr="assets/flag_fr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68680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France</a:t>
            </a:r>
            <a:endParaRPr lang="en-US" sz="1400"/>
          </a:p>
        </p:txBody>
      </p:sp>
      <p:pic>
        <p:nvPicPr>
          <p:cNvPr id="6" name="Image 1" descr="assets/flag_sp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1234440"/>
            <a:ext cx="868680" cy="6217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0744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Spain</a:t>
            </a:r>
            <a:endParaRPr lang="en-US" sz="1400"/>
          </a:p>
        </p:txBody>
      </p:sp>
      <p:pic>
        <p:nvPicPr>
          <p:cNvPr id="8" name="Image 2" descr="assets/flag_ita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728" y="1234440"/>
            <a:ext cx="868680" cy="6217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50008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Italy</a:t>
            </a:r>
            <a:endParaRPr lang="en-US" sz="1400"/>
          </a:p>
        </p:txBody>
      </p:sp>
      <p:pic>
        <p:nvPicPr>
          <p:cNvPr id="10" name="Image 3" descr="assets/flag_gree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1234440"/>
            <a:ext cx="868680" cy="6217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19272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Greece</a:t>
            </a:r>
            <a:endParaRPr lang="en-US" sz="1400"/>
          </a:p>
        </p:txBody>
      </p:sp>
      <p:pic>
        <p:nvPicPr>
          <p:cNvPr id="12" name="Image 4" descr="assets/flag_croat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4256" y="1234440"/>
            <a:ext cx="868680" cy="62179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288536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Croatia</a:t>
            </a:r>
            <a:endParaRPr lang="en-US" sz="1400"/>
          </a:p>
        </p:txBody>
      </p:sp>
      <p:pic>
        <p:nvPicPr>
          <p:cNvPr id="14" name="Image 5" descr="assets/flag_sloveni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1234440"/>
            <a:ext cx="868680" cy="62179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57800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Slovenia</a:t>
            </a:r>
            <a:endParaRPr lang="en-US" sz="1400"/>
          </a:p>
        </p:txBody>
      </p:sp>
      <p:pic>
        <p:nvPicPr>
          <p:cNvPr id="16" name="Image 6" descr="assets/flag_cypr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1234440"/>
            <a:ext cx="868680" cy="62179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227064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Cyprus</a:t>
            </a:r>
            <a:endParaRPr lang="en-US" sz="1400"/>
          </a:p>
        </p:txBody>
      </p:sp>
      <p:pic>
        <p:nvPicPr>
          <p:cNvPr id="18" name="Image 7" descr="assets/flag_montenegr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2048" y="1234440"/>
            <a:ext cx="868680" cy="62179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196328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Montenegro</a:t>
            </a:r>
            <a:endParaRPr lang="en-US" sz="1400"/>
          </a:p>
        </p:txBody>
      </p:sp>
      <p:sp>
        <p:nvSpPr>
          <p:cNvPr id="20" name="Text 10"/>
          <p:cNvSpPr/>
          <p:nvPr/>
        </p:nvSpPr>
        <p:spPr>
          <a:xfrm>
            <a:off x="8626289" y="1241165"/>
            <a:ext cx="2914964" cy="632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000000"/>
                </a:solidFill>
                <a:latin typeface="Times New Roman"/>
                <a:ea typeface="Times New Roman" pitchFamily="34" charset="-122"/>
                <a:cs typeface="Times New Roman"/>
              </a:rPr>
              <a:t>11,520 hourly records </a:t>
            </a:r>
            <a:endParaRPr lang="en-US" sz="1400">
              <a:solidFill>
                <a:srgbClr val="000000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ctr"/>
            <a:r>
              <a:rPr lang="en-US" sz="1400">
                <a:solidFill>
                  <a:srgbClr val="000000"/>
                </a:solidFill>
                <a:latin typeface="Times New Roman"/>
                <a:ea typeface="Times New Roman" pitchFamily="34" charset="-122"/>
                <a:cs typeface="Times New Roman"/>
              </a:rPr>
              <a:t> •  8 countries  •  1 Jan – 1 Mar 2025</a:t>
            </a:r>
            <a:endParaRPr lang="en-US" sz="1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21" name="Image 8" descr="assets/med_avg_deman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378" y="2300793"/>
            <a:ext cx="4608305" cy="2410607"/>
          </a:xfrm>
          <a:prstGeom prst="rect">
            <a:avLst/>
          </a:prstGeom>
        </p:spPr>
      </p:pic>
      <p:pic>
        <p:nvPicPr>
          <p:cNvPr id="23" name="Image 10" descr="assets/med_f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8116" y="2318138"/>
            <a:ext cx="4556268" cy="229901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183574" y="3232225"/>
            <a:ext cx="29386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classifier F1</a:t>
            </a:r>
            <a:endParaRPr lang="en-US" sz="1400">
              <a:solidFill>
                <a:srgbClr val="000000"/>
              </a:solidFill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825379"/>
              </p:ext>
            </p:extLst>
          </p:nvPr>
        </p:nvGraphicFramePr>
        <p:xfrm>
          <a:off x="457200" y="4810013"/>
          <a:ext cx="649224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Model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Accuracy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Precision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Recall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F1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B2545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Random Forest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B2545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0.795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B2545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0.306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B2545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0.854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B2545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0.450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Decision Tree</a:t>
                      </a:r>
                      <a:endParaRPr lang="en-US" sz="1400" dirty="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0.784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0.298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0.881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0.445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Hybrid Ensemble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0.724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0.253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0.929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0.398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Logistic Regression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0.750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0.258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0.823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0.393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Gradient Boosting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0.902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0.500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0.009</a:t>
                      </a:r>
                      <a:endParaRPr lang="en-US" sz="140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1606F"/>
                          </a:solidFill>
                          <a:latin typeface="Times New Roman"/>
                          <a:ea typeface="Times New Roman" pitchFamily="34" charset="-122"/>
                          <a:cs typeface="Times New Roman"/>
                        </a:rPr>
                        <a:t>0.017</a:t>
                      </a:r>
                      <a:endParaRPr lang="en-US" sz="1400" dirty="0">
                        <a:latin typeface="Times New Roman"/>
                        <a:ea typeface="Times New Roman" charset="0"/>
                        <a:cs typeface="Times New Roman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 16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6706BA8B-B803-B8CA-7007-C0509B6ECAE8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0C081F-E896-53E3-78BB-D3AF3EA8286A}"/>
              </a:ext>
            </a:extLst>
          </p:cNvPr>
          <p:cNvSpPr txBox="1"/>
          <p:nvPr/>
        </p:nvSpPr>
        <p:spPr>
          <a:xfrm>
            <a:off x="7171151" y="4836183"/>
            <a:ext cx="456156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400" b="1">
                <a:latin typeface="Times New Roman"/>
                <a:cs typeface="Times New Roman"/>
              </a:rPr>
              <a:t>Goal:</a:t>
            </a:r>
            <a:r>
              <a:rPr lang="en-US" sz="1400">
                <a:latin typeface="Times New Roman"/>
                <a:cs typeface="Times New Roman"/>
              </a:rPr>
              <a:t> Predict next-hour extreme demand using time, demand, ramp, and country features.</a:t>
            </a:r>
          </a:p>
          <a:p>
            <a:pPr marL="228600" indent="-228600">
              <a:buFont typeface=""/>
              <a:buChar char="•"/>
            </a:pPr>
            <a:r>
              <a:rPr lang="en-US" sz="1400" b="1">
                <a:latin typeface="Times New Roman"/>
                <a:cs typeface="Times New Roman"/>
              </a:rPr>
              <a:t>Key Finding:</a:t>
            </a:r>
            <a:r>
              <a:rPr lang="en-US" sz="1400">
                <a:latin typeface="Times New Roman"/>
                <a:cs typeface="Times New Roman"/>
              </a:rPr>
              <a:t> Montenegro has the highest average demand (11,295 MW), while France has the lowest (4,996 MW); </a:t>
            </a:r>
            <a:r>
              <a:rPr lang="en-US" sz="1400" b="1">
                <a:latin typeface="Times New Roman"/>
                <a:cs typeface="Times New Roman"/>
              </a:rPr>
              <a:t>10%</a:t>
            </a:r>
            <a:r>
              <a:rPr lang="en-US" sz="1400">
                <a:latin typeface="Times New Roman"/>
                <a:cs typeface="Times New Roman"/>
              </a:rPr>
              <a:t> of hours are extreme.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400" b="1">
                <a:latin typeface="Times New Roman"/>
                <a:cs typeface="Times New Roman"/>
              </a:rPr>
              <a:t>Best Model:</a:t>
            </a:r>
            <a:r>
              <a:rPr lang="en-US" sz="1400">
                <a:latin typeface="Times New Roman"/>
                <a:cs typeface="Times New Roman"/>
              </a:rPr>
              <a:t> Random Forest performs best, achieving </a:t>
            </a:r>
            <a:r>
              <a:rPr lang="en-US" sz="1400" b="1">
                <a:latin typeface="Times New Roman"/>
                <a:cs typeface="Times New Roman"/>
              </a:rPr>
              <a:t>F1 = 0.450</a:t>
            </a:r>
            <a:r>
              <a:rPr lang="en-US" sz="1400">
                <a:latin typeface="Times New Roman"/>
                <a:cs typeface="Times New Roman"/>
              </a:rPr>
              <a:t> and </a:t>
            </a:r>
            <a:r>
              <a:rPr lang="en-US" sz="1400" b="1">
                <a:latin typeface="Times New Roman"/>
                <a:cs typeface="Times New Roman"/>
              </a:rPr>
              <a:t>Recall = 0.854</a:t>
            </a:r>
            <a:r>
              <a:rPr lang="en-US" sz="1400">
                <a:latin typeface="Times New Roman"/>
                <a:cs typeface="Times New Roman"/>
              </a:rPr>
              <a:t>.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1400">
              <a:latin typeface="Times New Roman"/>
              <a:ea typeface="等线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3C7A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960120" y="1581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Forecasting Pipeline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an end-to-end pipeline spanning preprocessing, feature engineering, model training, tuning and explainability.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960120" y="26334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Superior, Leakage-Free Accuracy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with Optuna tuning outperformed Linear Regression, Random Forest and LSTM on MAE, RMSE and R², under a strict chronological split.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960120" y="36850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Transparent, Real-World Relevant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960120" y="39776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confirmed Lag_1, Hour and Lag_24 as the dominant drivers; the pipeline supports smart-grid planning decisions.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57200" y="478231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960120" y="47365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Regional Generalization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960120" y="50292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Mediterranean case study showed the approach extends to multi-country demand and extreme-event risk.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309360" y="12984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3C7A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6309360" y="1627632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748272" y="159105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Architectures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748272" y="1847088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Attention and Transformer models (e.g. TFT, PatchTST) for longer multi-horizon forecasts.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6309360" y="2478024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6748272" y="2441448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Uncertainty Quantification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6748272" y="269748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probabilistic interval forecasting to communicate prediction confidence to operators.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6309360" y="3328416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6748272" y="329184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 Deployment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6748272" y="3547872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 lightweight models for real-time inference on resource-constrained hardware.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6309360" y="4178808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6748272" y="414223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Data Integration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6748272" y="4398264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Fuse live weather feeds, dynamic electricity pricing and generation data into the model.</a:t>
            </a:r>
            <a:endParaRPr lang="en-US" sz="1400"/>
          </a:p>
        </p:txBody>
      </p:sp>
      <p:sp>
        <p:nvSpPr>
          <p:cNvPr id="38" name="Shape 36"/>
          <p:cNvSpPr/>
          <p:nvPr/>
        </p:nvSpPr>
        <p:spPr>
          <a:xfrm>
            <a:off x="6309360" y="5029200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6748272" y="4992624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Expanded Regional Coverage</a:t>
            </a:r>
            <a:endParaRPr lang="en-US" sz="1400"/>
          </a:p>
        </p:txBody>
      </p:sp>
      <p:sp>
        <p:nvSpPr>
          <p:cNvPr id="41" name="Text 39"/>
          <p:cNvSpPr/>
          <p:nvPr/>
        </p:nvSpPr>
        <p:spPr>
          <a:xfrm>
            <a:off x="6748272" y="5248656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5160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the Mediterranean synchronization analysis to more countries and longer time spans.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11338560" y="6528816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8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8F32CC43-07E2-49C6-5D3D-CD02BFCC5BE7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4" name="Text 2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694944" y="274320"/>
            <a:ext cx="109938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94944" y="493776"/>
            <a:ext cx="109938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694944" y="1417320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P. Duan et al., “Bayesian Optimization of Gradient Boosted Trees for Short-Term Load Forecasting,” Energies, 2023.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94944" y="1856232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S. Hochreiter et al., “Deep Learning for Sequence-Aware Load Forecasting Using LSTM Networks,” IEEE Access, 2021.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694944" y="2295144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A. Lundberg et al., “Explainable AI for Power System Load Demand Prediction Using SHAP,” Applied Energy, 2022.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694944" y="2734056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O. M. Neda, “Hybrid LSTM-XGBoost Model for Multi-Horizon Short-Term Load Forecasting,” e-Prime, vol. 17, p. 201211, 2026.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94944" y="3172968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 S. M. Lundberg and S.-I. Lee, “A Unified Approach to Interpreting Model Predictions,” NeurIPS, 2017.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94944" y="3611880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 T. Akiba et al., “Optuna: A Next-generation Hyperparameter Optimization Framework,” Proc. ACM KDD, 2019.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94944" y="4050792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 T. Chen and C. Guestrin, “XGBoost: A Scalable Tree Boosting System,” Proc. ACM KDD, 2016.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694944" y="4489704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 S. R. Rallapalli and S. Ghosh, “Forecasting Monthly Peak Demand of Electricity in India,” Energy Policy, vol. 45, pp. 516–520, 2012.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694944" y="4928616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 J. Bergstra and Y. Bengio, “Random Search for Hyper-Parameter Optimization,” JMLR, vol. 13, pp. 281–305, 2012.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94944" y="5367528"/>
            <a:ext cx="109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B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 ENTSO-E, “ENTSO-E Transparency Platform — Actual Total Load per Country,” ENTSO-E Power Statistics, 2025.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7819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2011</Words>
  <Application>Microsoft Office PowerPoint</Application>
  <PresentationFormat>Widescreen</PresentationFormat>
  <Paragraphs>374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SOUMIT MAL</cp:lastModifiedBy>
  <cp:revision>11</cp:revision>
  <dcterms:created xsi:type="dcterms:W3CDTF">2026-09-12T03:11:02Z</dcterms:created>
  <dcterms:modified xsi:type="dcterms:W3CDTF">2026-09-12T10:50:43Z</dcterms:modified>
</cp:coreProperties>
</file>